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7" r:id="rId4"/>
  </p:sldMasterIdLst>
  <p:notesMasterIdLst>
    <p:notesMasterId r:id="rId17"/>
  </p:notesMasterIdLst>
  <p:handoutMasterIdLst>
    <p:handoutMasterId r:id="rId18"/>
  </p:handoutMasterIdLst>
  <p:sldIdLst>
    <p:sldId id="258" r:id="rId5"/>
    <p:sldId id="295" r:id="rId6"/>
    <p:sldId id="293" r:id="rId7"/>
    <p:sldId id="296" r:id="rId8"/>
    <p:sldId id="297" r:id="rId9"/>
    <p:sldId id="298" r:id="rId10"/>
    <p:sldId id="267" r:id="rId11"/>
    <p:sldId id="299" r:id="rId12"/>
    <p:sldId id="301" r:id="rId13"/>
    <p:sldId id="300" r:id="rId14"/>
    <p:sldId id="294" r:id="rId15"/>
    <p:sldId id="2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8527" autoAdjust="0"/>
  </p:normalViewPr>
  <p:slideViewPr>
    <p:cSldViewPr snapToGrid="0">
      <p:cViewPr varScale="1">
        <p:scale>
          <a:sx n="55" d="100"/>
          <a:sy n="55" d="100"/>
        </p:scale>
        <p:origin x="-1622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Ще представя система, която разработих на основата на методика за планиране на уроци, ориентирана най-вече към професионалното образование. Няма да започна с технологията, а с нещо, което вероятно всички познаваме.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sz="1200" kern="1200" noProof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Подготовката за един урок рядко е само един документ. Обикновено работим с учебна програма, тематично разпределение, Word-файлове, презентации, задачи, тестове, линкове и файлове в различни папки. Ако се наложи наблюдение на урок, често трябва отново да пренесем информацията в определена бланка.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sz="1200" kern="1200" noProof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Проблемът не е само административен. Когато елементите са разпръснати, по-трудно се вижда връзката между това какво искаме учениците да постигнат, какво реално ще правят в часа, как ще проверим напредъка и какви материали ще използват.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ИРИДА е опит тази верига да бъде организирана на едно място и да остане използваема и след като урокът е проведен.</a:t>
            </a:r>
            <a:endParaRPr lang="en-US" sz="1200" kern="1200" noProof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noProof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Ще покажа първо накратко какво представлява системата, после каква е логиката зад нея и накрая — как работи с конкретен пример.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sz="1200" kern="1200" noProof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3601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noProof="0" dirty="0" smtClean="0"/>
              <a:t>Важно е да уточня какво ИРИДА е и какво не е. Тя не е готова рецепта за урок и не налага един-единствен стил на преподаване.</a:t>
            </a:r>
          </a:p>
          <a:p>
            <a:endParaRPr lang="bg-BG" noProof="0" dirty="0" smtClean="0"/>
          </a:p>
          <a:p>
            <a:r>
              <a:rPr lang="bg-BG" noProof="0" dirty="0" smtClean="0"/>
              <a:t>Учителят решава какво е подходящо за конкретния клас. Системата дава структура, пази връзките между отделните елементи и намалява повторното въвеждане на една и съща информация.</a:t>
            </a:r>
          </a:p>
          <a:p>
            <a:endParaRPr lang="bg-BG" noProof="0" dirty="0" smtClean="0"/>
          </a:p>
          <a:p>
            <a:r>
              <a:rPr lang="bg-BG" noProof="0" dirty="0" smtClean="0"/>
              <a:t>Практически тя работи на три нива: планиране на предмета, подготовка на конкретния урок и използване на материали и задачи от учениците.</a:t>
            </a:r>
          </a:p>
          <a:p>
            <a:endParaRPr lang="bg-BG" noProof="0" dirty="0" smtClean="0"/>
          </a:p>
          <a:p>
            <a:r>
              <a:rPr lang="bg-BG" noProof="0" dirty="0" smtClean="0"/>
              <a:t>За да не изглежда като просто електронна бланка, ще кажа с няколко думи каква методическа логика стои зад нея.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5062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Преди около година разработих методика, която тръгва от учебната програма и стига до конкретния урок. Няма да повтарям стария семинар. Днес ми е важно само да се види логиката, защото тя е реализирана в системата.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Първо се работи с предмета, хорариума и учебното съдържание. След това се формулират резултатите, които учениците трябва да постигнат, и се разпределят темите и занятията. При професионалната подготовка е важно теорията и практиката да не са два независими свята.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планирането може да се използва и принципът </a:t>
            </a:r>
            <a:r>
              <a:rPr lang="en-US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MoSCoW</a:t>
            </a: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кое е задължително, кое е важно, кое е допълващо. Това е полезно най-вече когато времето не достига и трябва съзнателно да се поставят приоритети.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5062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Преди около година разработих методика, която тръгва от учебната програма и стига до конкретния урок. Няма да повтарям стария семинар. Днес ми е важно само да се види логиката, защото тя е реализирана в системата.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Първо се работи с предмета, хорариума и учебното съдържание. След това се формулират резултатите, които учениците трябва да постигнат, и се разпределят темите и занятията. При професионалната подготовка е важно теорията и практиката да не са два независими свята.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планирането може да се използва и принципът </a:t>
            </a:r>
            <a:r>
              <a:rPr lang="en-US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MoSCoW</a:t>
            </a: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кое е задължително, кое е важно, кое е допълващо. Това е полезно най-вече когато времето не достига и трябва съзнателно да се поставят приоритети.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bg-BG" sz="1200" kern="1200" noProof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5062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рамките на самия урок логиката е проста: да привлечем вниманието, да уточним целта, да разберем откъде тръгват учениците, да им дадем активна работа, да проверим какво са усвоили и да обобщим.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е нужно всички да използваме едни и същи термини. Важното е урокът да има ясна цел, смислена активност на учениците, обратна връзка и завършек.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Сега ще премина към системата. Първо ще покажа за кратко как изглежда готовият резултат, а след това ще се върна назад и ще създам съкратен пример от нулата.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5062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3601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училището вече има приета бланка за подготовка на урок и критерии за наблюдение. Независимо от различията в подходите, за мен беше важно ИРИДА да може да работи и с тази практика, а не да я игнорира.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Затова информацията, която учителят подготвя за урока, може при необходимост да се използва и за оформяне на съответния документ. Идеята е да не се налага една и съща информация да се пише на няколко места.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Тази интеграция не е задължителна. За всеки конкретен урок учителят решава дали му е необходим документ по училищната бланка и дали иска предварителна самопроверка по критериите.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Предварителната оценка не е присъда за урока и не замества професионалната преценка на наблюдаващия. Тя е помощ за самопроверка: има ли ясни цели, активност на учениците, критерии за успех, обратна връзка и реалистично време.</a:t>
            </a:r>
          </a:p>
          <a:p>
            <a:endParaRPr lang="bg-BG" sz="1200" kern="1200" noProof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 тази демонстрация най-важният въпрос е не какви екрани има системата, а каква практическа полза би имала за различните участници в училищния процес.</a:t>
            </a:r>
          </a:p>
          <a:p>
            <a:endParaRPr lang="bg-BG" sz="1200" kern="1200" noProof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5062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3601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учителя основната полза не е да попълни още една форма. Тя е да организира веднъж информацията и да я използва многократно — за урока, за ресурсите, за учениците и при необходимост за документацията.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ученика ползата е по-ясен достъп до това, което прави: материали, задача, критерии за успех и възможност за повторение или самостоятелна работа.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ръководството това може да даде по-добра основа за професионален разговор за урока: каква е целта, какво правят учениците, как се събира обратна връзка. Не като инструмент за унифициране на всички, а като обща видимост на важните елементи.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Има и реалистична граница: системата не може сама да направи урока качествен. Тя не познава конкретния клас по-добре от учителя. Ползата ѝ зависи от това дали спестява време и дали прави планирането по-ясно и използваемо.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3601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предлагам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всички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веднага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променят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начина си на работа и не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предлагам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задължително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използване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Предлагам малък доброволен пилот: колега, който желае, да подготви с ИРИДА един реален урок или една тема от своя предмет. След това да обсъдим не дали системата е впечатляваща, а дали реално е спестила време, дали е помогнала за подготовката и дали е била полезна за учениците.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Ако няма реална полза, няма смисъл да се усложнява работата. Ако има — системата може да се развива на основата на нуждите на нашето училище, а не само на моите предположения.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ИРИДА започна като методика за по-смислено планиране в професионалното образование, а след това се превърна в работеща система, която използвам с реални ученици. Не я представям като завършена универсална рецепта, а като практическа основа, която може да се подобрява чрез реална употреба. Ако тя спести време, помогне на учителя да вижда по-ясно целта на часа и даде на ученика по-добър достъп до учебния процес, тогава има смисъл да я развиваме заедно.</a:t>
            </a:r>
            <a:br>
              <a:rPr lang="bg-BG" sz="1200" kern="1200" noProof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bg-BG" sz="1200" kern="1200" noProof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0379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Благодаря за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вниманието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се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радвам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конкретни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въпроси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критики и предложения —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гледна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точка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различни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предмети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реалната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ежедневна работа в училище.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709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=""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=""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=""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=""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=""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=""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=""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=""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=""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=""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=""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=""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7022-84E8-42F0-8AEA-ADED76AFD446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=""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=""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=""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=""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10F8E8D-DF54-49BE-BDBC-401B280C4E3C}" type="datetime1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Group of people talking">
            <a:extLst>
              <a:ext uri="{FF2B5EF4-FFF2-40B4-BE49-F238E27FC236}">
                <a16:creationId xmlns="" xmlns:a16="http://schemas.microsoft.com/office/drawing/2014/main" id="{C7D5F6B1-1228-4C2A-AE2C-950C34054C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311900" cy="6858000"/>
          </a:xfrm>
        </p:spPr>
      </p:pic>
      <p:sp>
        <p:nvSpPr>
          <p:cNvPr id="3" name="Title 2">
            <a:extLst>
              <a:ext uri="{FF2B5EF4-FFF2-40B4-BE49-F238E27FC236}">
                <a16:creationId xmlns="" xmlns:a16="http://schemas.microsoft.com/office/drawing/2014/main" id="{A017FF9C-6A7E-4A79-81BB-438E8EA9676A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6545" y="614149"/>
            <a:ext cx="4526280" cy="943015"/>
          </a:xfrm>
        </p:spPr>
        <p:txBody>
          <a:bodyPr/>
          <a:lstStyle/>
          <a:p>
            <a:r>
              <a:rPr lang="bg-BG" dirty="0" smtClean="0"/>
              <a:t>ИРИДА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3704" t="50" r="20718" b="-202"/>
          <a:stretch/>
        </p:blipFill>
        <p:spPr>
          <a:xfrm>
            <a:off x="-1194369" y="0"/>
            <a:ext cx="7506269" cy="6858000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="" xmlns:a16="http://schemas.microsoft.com/office/drawing/2014/main" id="{A017FF9C-6A7E-4A79-81BB-438E8EA9676A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705600" y="1899806"/>
            <a:ext cx="5304430" cy="20594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5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tx1"/>
                </a:solidFill>
              </a:rPr>
              <a:t>от </a:t>
            </a:r>
            <a:r>
              <a:rPr lang="ru-RU" sz="4000" dirty="0" err="1">
                <a:solidFill>
                  <a:schemeClr val="tx1"/>
                </a:solidFill>
              </a:rPr>
              <a:t>учебната</a:t>
            </a:r>
            <a:r>
              <a:rPr lang="ru-RU" sz="4000" dirty="0">
                <a:solidFill>
                  <a:schemeClr val="tx1"/>
                </a:solidFill>
              </a:rPr>
              <a:t> </a:t>
            </a:r>
            <a:r>
              <a:rPr lang="ru-RU" sz="4000" dirty="0" err="1">
                <a:solidFill>
                  <a:schemeClr val="tx1"/>
                </a:solidFill>
              </a:rPr>
              <a:t>програма</a:t>
            </a:r>
            <a:r>
              <a:rPr lang="ru-RU" sz="4000" dirty="0">
                <a:solidFill>
                  <a:schemeClr val="tx1"/>
                </a:solidFill>
              </a:rPr>
              <a:t> до </a:t>
            </a:r>
            <a:r>
              <a:rPr lang="ru-RU" sz="4000" dirty="0" err="1">
                <a:solidFill>
                  <a:schemeClr val="tx1"/>
                </a:solidFill>
              </a:rPr>
              <a:t>работещ</a:t>
            </a:r>
            <a:r>
              <a:rPr lang="ru-RU" sz="4000" dirty="0">
                <a:solidFill>
                  <a:schemeClr val="tx1"/>
                </a:solidFill>
              </a:rPr>
              <a:t> урок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890" y="5718412"/>
            <a:ext cx="2182140" cy="80474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637450"/>
              </p:ext>
            </p:extLst>
          </p:nvPr>
        </p:nvGraphicFramePr>
        <p:xfrm>
          <a:off x="6402657" y="4958982"/>
          <a:ext cx="5789343" cy="525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89343">
                  <a:extLst>
                    <a:ext uri="{9D8B030D-6E8A-4147-A177-3AD203B41FA5}">
                      <a16:colId xmlns="" xmlns:a16="http://schemas.microsoft.com/office/drawing/2014/main" val="25677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cap="all" spc="100" dirty="0">
                          <a:effectLst/>
                        </a:rPr>
                        <a:t>Банско </a:t>
                      </a:r>
                      <a:r>
                        <a:rPr lang="bg-BG" sz="1600" cap="all" spc="100" dirty="0" smtClean="0">
                          <a:effectLst/>
                        </a:rPr>
                        <a:t>202</a:t>
                      </a:r>
                      <a:r>
                        <a:rPr lang="en-US" sz="1600" cap="all" spc="100" dirty="0" smtClean="0">
                          <a:effectLst/>
                        </a:rPr>
                        <a:t>6</a:t>
                      </a:r>
                      <a:endParaRPr lang="bg-BG" sz="14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</a:rPr>
                        <a:t>инж</a:t>
                      </a:r>
                      <a:r>
                        <a:rPr lang="bg-BG" sz="1400" dirty="0">
                          <a:effectLst/>
                        </a:rPr>
                        <a:t>. Георги Бориков</a:t>
                      </a:r>
                      <a:endParaRPr lang="bg-BG" sz="1400" b="1" dirty="0">
                        <a:solidFill>
                          <a:srgbClr val="082A75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="" xmlns:a16="http://schemas.microsoft.com/office/drawing/2014/main" val="1728547444"/>
                  </a:ext>
                </a:extLst>
              </a:tr>
            </a:tbl>
          </a:graphicData>
        </a:graphic>
      </p:graphicFrame>
      <p:cxnSp>
        <p:nvCxnSpPr>
          <p:cNvPr id="9" name="Право съединение 6" descr="Разделител на текст"/>
          <p:cNvCxnSpPr/>
          <p:nvPr/>
        </p:nvCxnSpPr>
        <p:spPr>
          <a:xfrm>
            <a:off x="6469080" y="5229503"/>
            <a:ext cx="1637690" cy="883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4613E22E-01DB-414D-9831-64C0E2A8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25236"/>
            <a:ext cx="10058400" cy="712124"/>
          </a:xfrm>
        </p:spPr>
        <p:txBody>
          <a:bodyPr>
            <a:normAutofit fontScale="90000"/>
          </a:bodyPr>
          <a:lstStyle/>
          <a:p>
            <a:r>
              <a:rPr lang="bg-BG" dirty="0"/>
              <a:t>подготовката </a:t>
            </a:r>
            <a:r>
              <a:rPr lang="bg-BG" dirty="0" smtClean="0"/>
              <a:t>на урок е разпръсната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" y="2501733"/>
            <a:ext cx="11648817" cy="1917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346359" y="4327455"/>
            <a:ext cx="1911927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bg-BG" dirty="0" smtClean="0"/>
              <a:t>учебна </a:t>
            </a:r>
          </a:p>
          <a:p>
            <a:pPr algn="ctr"/>
            <a:r>
              <a:rPr lang="bg-BG" dirty="0" smtClean="0"/>
              <a:t>програма</a:t>
            </a:r>
            <a:endParaRPr lang="bg-BG" dirty="0"/>
          </a:p>
        </p:txBody>
      </p:sp>
      <p:sp>
        <p:nvSpPr>
          <p:cNvPr id="9" name="Правоъгълник 8"/>
          <p:cNvSpPr/>
          <p:nvPr/>
        </p:nvSpPr>
        <p:spPr>
          <a:xfrm>
            <a:off x="9850584" y="4327455"/>
            <a:ext cx="2286000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bg-BG" dirty="0" smtClean="0"/>
              <a:t>материали  и </a:t>
            </a:r>
          </a:p>
          <a:p>
            <a:pPr algn="ctr"/>
            <a:r>
              <a:rPr lang="bg-BG" dirty="0" smtClean="0"/>
              <a:t>документи</a:t>
            </a:r>
            <a:endParaRPr lang="bg-BG" dirty="0"/>
          </a:p>
        </p:txBody>
      </p:sp>
      <p:sp>
        <p:nvSpPr>
          <p:cNvPr id="5" name="Правоъгълник 4"/>
          <p:cNvSpPr/>
          <p:nvPr/>
        </p:nvSpPr>
        <p:spPr>
          <a:xfrm>
            <a:off x="2341416" y="4327455"/>
            <a:ext cx="1756122" cy="64633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bg-BG" dirty="0"/>
              <a:t>тематично </a:t>
            </a:r>
            <a:endParaRPr lang="bg-BG" dirty="0" smtClean="0"/>
          </a:p>
          <a:p>
            <a:pPr algn="ctr"/>
            <a:r>
              <a:rPr lang="bg-BG" dirty="0" smtClean="0"/>
              <a:t>разпределение </a:t>
            </a:r>
            <a:endParaRPr lang="bg-BG" dirty="0"/>
          </a:p>
        </p:txBody>
      </p:sp>
      <p:sp>
        <p:nvSpPr>
          <p:cNvPr id="6" name="Правоъгълник 5"/>
          <p:cNvSpPr/>
          <p:nvPr/>
        </p:nvSpPr>
        <p:spPr>
          <a:xfrm>
            <a:off x="4079027" y="4465954"/>
            <a:ext cx="2224788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ru-RU" dirty="0"/>
              <a:t>план на урока</a:t>
            </a:r>
            <a:endParaRPr lang="bg-BG" dirty="0"/>
          </a:p>
        </p:txBody>
      </p:sp>
      <p:sp>
        <p:nvSpPr>
          <p:cNvPr id="8" name="Правоъгълник 7"/>
          <p:cNvSpPr/>
          <p:nvPr/>
        </p:nvSpPr>
        <p:spPr>
          <a:xfrm>
            <a:off x="6296339" y="4465954"/>
            <a:ext cx="1491114" cy="36933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bg-BG" dirty="0"/>
              <a:t>презентация </a:t>
            </a:r>
          </a:p>
        </p:txBody>
      </p:sp>
      <p:sp>
        <p:nvSpPr>
          <p:cNvPr id="10" name="Правоъгълник 9"/>
          <p:cNvSpPr/>
          <p:nvPr/>
        </p:nvSpPr>
        <p:spPr>
          <a:xfrm>
            <a:off x="8465135" y="4327455"/>
            <a:ext cx="1107996" cy="64633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bg-BG" dirty="0" smtClean="0"/>
              <a:t>задачи и </a:t>
            </a:r>
          </a:p>
          <a:p>
            <a:pPr algn="ctr"/>
            <a:r>
              <a:rPr lang="bg-BG" dirty="0" smtClean="0"/>
              <a:t>тестове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7260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54" y="1813207"/>
            <a:ext cx="3697009" cy="2093975"/>
          </a:xfrm>
        </p:spPr>
        <p:txBody>
          <a:bodyPr/>
          <a:lstStyle/>
          <a:p>
            <a:pPr algn="ctr"/>
            <a:r>
              <a:rPr lang="bg-BG" dirty="0"/>
              <a:t>кратко определение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147" y="684876"/>
            <a:ext cx="5984925" cy="4538294"/>
          </a:xfrm>
        </p:spPr>
        <p:txBody>
          <a:bodyPr>
            <a:normAutofit/>
          </a:bodyPr>
          <a:lstStyle/>
          <a:p>
            <a:pPr algn="just"/>
            <a:r>
              <a:rPr lang="bg-BG" sz="2200" b="1" dirty="0" smtClean="0"/>
              <a:t>ИРИДА е уеб базирана система за дидактическо планиране и управление на учебния процес, създадена първоначално за нуждите на професионалното образование и изпробвана реално в работата ми с ученици.</a:t>
            </a:r>
            <a:endParaRPr lang="bg-BG" sz="2200" b="1" dirty="0"/>
          </a:p>
        </p:txBody>
      </p:sp>
      <p:grpSp>
        <p:nvGrpSpPr>
          <p:cNvPr id="10" name="Group 9" descr="Info">
            <a:extLst>
              <a:ext uri="{FF2B5EF4-FFF2-40B4-BE49-F238E27FC236}">
                <a16:creationId xmlns=""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4637454" y="253047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=""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9971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54" y="1813207"/>
            <a:ext cx="3697009" cy="2093975"/>
          </a:xfrm>
        </p:spPr>
        <p:txBody>
          <a:bodyPr/>
          <a:lstStyle/>
          <a:p>
            <a:pPr algn="ctr"/>
            <a:r>
              <a:rPr lang="bg-BG" dirty="0" smtClean="0"/>
              <a:t>Три нива на работа</a:t>
            </a:r>
            <a:endParaRPr lang="en-US" dirty="0"/>
          </a:p>
        </p:txBody>
      </p:sp>
      <p:grpSp>
        <p:nvGrpSpPr>
          <p:cNvPr id="10" name="Group 9" descr="Info">
            <a:extLst>
              <a:ext uri="{FF2B5EF4-FFF2-40B4-BE49-F238E27FC236}">
                <a16:creationId xmlns=""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4637454" y="253047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=""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" name="Контейнер за съдържание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255335"/>
              </p:ext>
            </p:extLst>
          </p:nvPr>
        </p:nvGraphicFramePr>
        <p:xfrm>
          <a:off x="5902037" y="1078211"/>
          <a:ext cx="5805055" cy="3836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758"/>
                <a:gridCol w="3204297"/>
              </a:tblGrid>
              <a:tr h="959211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Ниво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Какво подпомага</a:t>
                      </a:r>
                      <a:endParaRPr lang="bg-BG" dirty="0"/>
                    </a:p>
                  </a:txBody>
                  <a:tcPr anchor="ctr"/>
                </a:tc>
              </a:tr>
              <a:tr h="959211">
                <a:tc>
                  <a:txBody>
                    <a:bodyPr/>
                    <a:lstStyle/>
                    <a:p>
                      <a:r>
                        <a:rPr lang="bg-BG" dirty="0" smtClean="0"/>
                        <a:t>Годишно планиране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noProof="0" dirty="0" smtClean="0"/>
                        <a:t>предмети, хорариум, раздели, теми, теория и практика</a:t>
                      </a:r>
                      <a:endParaRPr lang="bg-BG" noProof="0" dirty="0"/>
                    </a:p>
                  </a:txBody>
                  <a:tcPr anchor="ctr"/>
                </a:tc>
              </a:tr>
              <a:tr h="959211">
                <a:tc>
                  <a:txBody>
                    <a:bodyPr/>
                    <a:lstStyle/>
                    <a:p>
                      <a:r>
                        <a:rPr lang="bg-BG" dirty="0" smtClean="0"/>
                        <a:t>Подготовка на урок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noProof="0" dirty="0" smtClean="0"/>
                        <a:t>цели, време, дейности, ресурси, оценяване</a:t>
                      </a:r>
                      <a:endParaRPr lang="bg-BG" noProof="0" dirty="0"/>
                    </a:p>
                  </a:txBody>
                  <a:tcPr anchor="ctr"/>
                </a:tc>
              </a:tr>
              <a:tr h="959211">
                <a:tc>
                  <a:txBody>
                    <a:bodyPr/>
                    <a:lstStyle/>
                    <a:p>
                      <a:r>
                        <a:rPr lang="bg-BG" dirty="0" smtClean="0"/>
                        <a:t>Работа с учениците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noProof="0" dirty="0" smtClean="0"/>
                        <a:t>материали, задачи, самостоятелна работа, обратна връзка</a:t>
                      </a:r>
                      <a:endParaRPr lang="bg-BG" noProof="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52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45" y="1813207"/>
            <a:ext cx="4142509" cy="2093975"/>
          </a:xfrm>
        </p:spPr>
        <p:txBody>
          <a:bodyPr>
            <a:normAutofit/>
          </a:bodyPr>
          <a:lstStyle/>
          <a:p>
            <a:pPr algn="ctr"/>
            <a:r>
              <a:rPr lang="bg-BG" sz="3200" dirty="0" smtClean="0"/>
              <a:t>пътят </a:t>
            </a:r>
            <a:br>
              <a:rPr lang="bg-BG" sz="3200" dirty="0" smtClean="0"/>
            </a:br>
            <a:r>
              <a:rPr lang="bg-BG" sz="3200" dirty="0" smtClean="0"/>
              <a:t>от учебната програма </a:t>
            </a:r>
            <a:br>
              <a:rPr lang="bg-BG" sz="3200" dirty="0" smtClean="0"/>
            </a:br>
            <a:r>
              <a:rPr lang="bg-BG" sz="3200" dirty="0" smtClean="0"/>
              <a:t>до урока</a:t>
            </a:r>
            <a:endParaRPr lang="bg-BG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926510"/>
            <a:ext cx="5500254" cy="4538294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bg-BG" sz="2200" b="1" dirty="0" smtClean="0"/>
              <a:t>Учебен план и хорариум.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bg-BG" sz="2200" b="1" dirty="0" smtClean="0"/>
              <a:t>Теория и практика.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bg-BG" sz="2200" b="1" dirty="0" smtClean="0"/>
              <a:t>Раздели и теми.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bg-BG" sz="2200" b="1" dirty="0" smtClean="0"/>
              <a:t>Цели и очаквани резултати.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bg-BG" sz="2200" b="1" dirty="0" smtClean="0"/>
              <a:t>Приоритети на съдържанието.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bg-BG" sz="2200" b="1" dirty="0" smtClean="0"/>
              <a:t>Конкретни занятия.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bg-BG" sz="2200" b="1" dirty="0" smtClean="0"/>
              <a:t>Връзки между теория и практика.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bg-BG" sz="2200" b="1" dirty="0" smtClean="0"/>
              <a:t>Урок, ресурси и оценяване.</a:t>
            </a:r>
          </a:p>
          <a:p>
            <a:pPr algn="just"/>
            <a:endParaRPr lang="bg-BG" sz="2200" b="1" dirty="0"/>
          </a:p>
        </p:txBody>
      </p:sp>
      <p:grpSp>
        <p:nvGrpSpPr>
          <p:cNvPr id="10" name="Group 9" descr="Info">
            <a:extLst>
              <a:ext uri="{FF2B5EF4-FFF2-40B4-BE49-F238E27FC236}">
                <a16:creationId xmlns=""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4637454" y="253047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=""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265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45" y="1813207"/>
            <a:ext cx="4142509" cy="2093975"/>
          </a:xfrm>
        </p:spPr>
        <p:txBody>
          <a:bodyPr>
            <a:normAutofit/>
          </a:bodyPr>
          <a:lstStyle/>
          <a:p>
            <a:pPr algn="ctr"/>
            <a:r>
              <a:rPr lang="bg-BG" sz="3200" dirty="0" smtClean="0"/>
              <a:t>логиката </a:t>
            </a:r>
            <a:br>
              <a:rPr lang="bg-BG" sz="3200" dirty="0" smtClean="0"/>
            </a:br>
            <a:r>
              <a:rPr lang="bg-BG" sz="3200" dirty="0" smtClean="0"/>
              <a:t>на </a:t>
            </a:r>
            <a:r>
              <a:rPr lang="bg-BG" sz="3200" dirty="0"/>
              <a:t>един урок</a:t>
            </a:r>
          </a:p>
        </p:txBody>
      </p:sp>
      <p:grpSp>
        <p:nvGrpSpPr>
          <p:cNvPr id="10" name="Group 9" descr="Info">
            <a:extLst>
              <a:ext uri="{FF2B5EF4-FFF2-40B4-BE49-F238E27FC236}">
                <a16:creationId xmlns=""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4637454" y="253047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=""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Правоъгълник 2"/>
          <p:cNvSpPr/>
          <p:nvPr/>
        </p:nvSpPr>
        <p:spPr>
          <a:xfrm>
            <a:off x="7135087" y="750564"/>
            <a:ext cx="4364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 smtClean="0"/>
              <a:t>Въвеждане </a:t>
            </a:r>
          </a:p>
        </p:txBody>
      </p:sp>
      <p:sp>
        <p:nvSpPr>
          <p:cNvPr id="14" name="Правоъгълник 13"/>
          <p:cNvSpPr/>
          <p:nvPr/>
        </p:nvSpPr>
        <p:spPr>
          <a:xfrm>
            <a:off x="7135087" y="3098372"/>
            <a:ext cx="4364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 smtClean="0"/>
              <a:t>Активна работа с учениците</a:t>
            </a:r>
          </a:p>
        </p:txBody>
      </p:sp>
      <p:sp>
        <p:nvSpPr>
          <p:cNvPr id="15" name="Правоъгълник 14"/>
          <p:cNvSpPr/>
          <p:nvPr/>
        </p:nvSpPr>
        <p:spPr>
          <a:xfrm>
            <a:off x="7135087" y="1539487"/>
            <a:ext cx="4364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 smtClean="0"/>
              <a:t>Цели</a:t>
            </a:r>
          </a:p>
        </p:txBody>
      </p:sp>
      <p:sp>
        <p:nvSpPr>
          <p:cNvPr id="16" name="Правоъгълник 15"/>
          <p:cNvSpPr/>
          <p:nvPr/>
        </p:nvSpPr>
        <p:spPr>
          <a:xfrm>
            <a:off x="7135087" y="2327708"/>
            <a:ext cx="4364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 smtClean="0"/>
              <a:t>Начална проверка</a:t>
            </a:r>
            <a:endParaRPr lang="bg-BG" sz="2400" dirty="0"/>
          </a:p>
        </p:txBody>
      </p:sp>
      <p:sp>
        <p:nvSpPr>
          <p:cNvPr id="17" name="Правоъгълник 16"/>
          <p:cNvSpPr/>
          <p:nvPr/>
        </p:nvSpPr>
        <p:spPr>
          <a:xfrm>
            <a:off x="7135087" y="4663381"/>
            <a:ext cx="4364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 smtClean="0"/>
              <a:t>Обобщение</a:t>
            </a:r>
            <a:endParaRPr lang="bg-BG" sz="2400" dirty="0"/>
          </a:p>
        </p:txBody>
      </p:sp>
      <p:sp>
        <p:nvSpPr>
          <p:cNvPr id="18" name="Правоъгълник 17"/>
          <p:cNvSpPr/>
          <p:nvPr/>
        </p:nvSpPr>
        <p:spPr>
          <a:xfrm>
            <a:off x="7135087" y="3855336"/>
            <a:ext cx="4364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 smtClean="0"/>
              <a:t>Проверка на напредъка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673" y="587331"/>
            <a:ext cx="537658" cy="4620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872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4613E22E-01DB-414D-9831-64C0E2A8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bg-BG" dirty="0" smtClean="0"/>
              <a:t>Демонстрация на живо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836" y="3355229"/>
            <a:ext cx="2801798" cy="1170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605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54" y="1813207"/>
            <a:ext cx="3697009" cy="2093975"/>
          </a:xfrm>
        </p:spPr>
        <p:txBody>
          <a:bodyPr>
            <a:normAutofit/>
          </a:bodyPr>
          <a:lstStyle/>
          <a:p>
            <a:pPr algn="ctr"/>
            <a:r>
              <a:rPr lang="bg-BG" sz="3200" dirty="0"/>
              <a:t>Съвместимост, а не противопоставяне</a:t>
            </a:r>
            <a:endParaRPr lang="en-US" sz="3200" dirty="0"/>
          </a:p>
        </p:txBody>
      </p:sp>
      <p:grpSp>
        <p:nvGrpSpPr>
          <p:cNvPr id="10" name="Group 9" descr="Info">
            <a:extLst>
              <a:ext uri="{FF2B5EF4-FFF2-40B4-BE49-F238E27FC236}">
                <a16:creationId xmlns=""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4637454" y="253047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=""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" name="Контейнер за съдържани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217640"/>
              </p:ext>
            </p:extLst>
          </p:nvPr>
        </p:nvGraphicFramePr>
        <p:xfrm>
          <a:off x="5680360" y="462664"/>
          <a:ext cx="6192984" cy="5355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9566"/>
                <a:gridCol w="3103418"/>
              </a:tblGrid>
              <a:tr h="538692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В училищната бланка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 В ИРИДА</a:t>
                      </a:r>
                      <a:endParaRPr lang="bg-BG" dirty="0"/>
                    </a:p>
                  </a:txBody>
                  <a:tcPr/>
                </a:tc>
              </a:tr>
              <a:tr h="538692">
                <a:tc>
                  <a:txBody>
                    <a:bodyPr/>
                    <a:lstStyle/>
                    <a:p>
                      <a:r>
                        <a:rPr lang="ru-RU" dirty="0" smtClean="0"/>
                        <a:t>Тема и организация на часа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noProof="0" dirty="0" smtClean="0"/>
                        <a:t>Основни данни и времева рамка</a:t>
                      </a:r>
                      <a:endParaRPr lang="bg-BG" noProof="0" dirty="0"/>
                    </a:p>
                  </a:txBody>
                  <a:tcPr/>
                </a:tc>
              </a:tr>
              <a:tr h="538692">
                <a:tc>
                  <a:txBody>
                    <a:bodyPr/>
                    <a:lstStyle/>
                    <a:p>
                      <a:r>
                        <a:rPr lang="bg-BG" dirty="0" smtClean="0"/>
                        <a:t>Цели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Цели и очаквани резултати</a:t>
                      </a:r>
                      <a:endParaRPr lang="bg-BG" dirty="0"/>
                    </a:p>
                  </a:txBody>
                  <a:tcPr/>
                </a:tc>
              </a:tr>
              <a:tr h="538692">
                <a:tc>
                  <a:txBody>
                    <a:bodyPr/>
                    <a:lstStyle/>
                    <a:p>
                      <a:r>
                        <a:rPr lang="bg-BG" dirty="0" smtClean="0"/>
                        <a:t>Начало на часа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Въвеждаща дейност</a:t>
                      </a:r>
                      <a:endParaRPr lang="bg-BG" dirty="0"/>
                    </a:p>
                  </a:txBody>
                  <a:tcPr/>
                </a:tc>
              </a:tr>
              <a:tr h="538692">
                <a:tc>
                  <a:txBody>
                    <a:bodyPr/>
                    <a:lstStyle/>
                    <a:p>
                      <a:r>
                        <a:rPr lang="bg-BG" dirty="0" smtClean="0"/>
                        <a:t>Същинска част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noProof="0" dirty="0" smtClean="0"/>
                        <a:t>Ученически дейности, стъпки, ресурси, подкрепа</a:t>
                      </a:r>
                      <a:endParaRPr lang="bg-BG" noProof="0" dirty="0"/>
                    </a:p>
                  </a:txBody>
                  <a:tcPr/>
                </a:tc>
              </a:tr>
              <a:tr h="538692">
                <a:tc>
                  <a:txBody>
                    <a:bodyPr/>
                    <a:lstStyle/>
                    <a:p>
                      <a:r>
                        <a:rPr lang="bg-BG" dirty="0" smtClean="0"/>
                        <a:t>Обобщение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Рефлексия и завършек</a:t>
                      </a:r>
                      <a:endParaRPr lang="bg-BG" dirty="0"/>
                    </a:p>
                  </a:txBody>
                  <a:tcPr/>
                </a:tc>
              </a:tr>
              <a:tr h="538692">
                <a:tc>
                  <a:txBody>
                    <a:bodyPr/>
                    <a:lstStyle/>
                    <a:p>
                      <a:r>
                        <a:rPr lang="bg-BG" dirty="0" smtClean="0"/>
                        <a:t> Оценяване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noProof="0" dirty="0" smtClean="0"/>
                        <a:t>Начална, формираща и финална проверка</a:t>
                      </a:r>
                      <a:endParaRPr lang="bg-BG" noProof="0" dirty="0"/>
                    </a:p>
                  </a:txBody>
                  <a:tcPr/>
                </a:tc>
              </a:tr>
              <a:tr h="538692">
                <a:tc>
                  <a:txBody>
                    <a:bodyPr/>
                    <a:lstStyle/>
                    <a:p>
                      <a:r>
                        <a:rPr lang="bg-BG" dirty="0" smtClean="0"/>
                        <a:t>Социално-емоционални умения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noProof="0" dirty="0" smtClean="0"/>
                        <a:t>Екипност, комуникация, саморегулация</a:t>
                      </a:r>
                      <a:endParaRPr lang="bg-BG" noProof="0" dirty="0"/>
                    </a:p>
                  </a:txBody>
                  <a:tcPr/>
                </a:tc>
              </a:tr>
              <a:tr h="538692">
                <a:tc>
                  <a:txBody>
                    <a:bodyPr/>
                    <a:lstStyle/>
                    <a:p>
                      <a:r>
                        <a:rPr lang="bg-BG" dirty="0" smtClean="0"/>
                        <a:t>Приложения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Ресурси, работни листове, тестове</a:t>
                      </a:r>
                      <a:endParaRPr lang="bg-BG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552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4613E22E-01DB-414D-9831-64C0E2A8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bg-BG" dirty="0" smtClean="0"/>
              <a:t>Демонстрация на живо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473" y="3403327"/>
            <a:ext cx="2804403" cy="1170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90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4613E22E-01DB-414D-9831-64C0E2A8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bg-BG" dirty="0"/>
              <a:t>Ползи и реалистични ограничения</a:t>
            </a:r>
            <a:endParaRPr lang="en-US" dirty="0"/>
          </a:p>
        </p:txBody>
      </p:sp>
      <p:graphicFrame>
        <p:nvGraphicFramePr>
          <p:cNvPr id="3" name="Контейнер за съдържание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757973"/>
              </p:ext>
            </p:extLst>
          </p:nvPr>
        </p:nvGraphicFramePr>
        <p:xfrm>
          <a:off x="277091" y="2108200"/>
          <a:ext cx="11679381" cy="2998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3127"/>
                <a:gridCol w="3893127"/>
                <a:gridCol w="38931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За учителя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За ученика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За ръководството</a:t>
                      </a:r>
                      <a:endParaRPr lang="bg-BG" dirty="0"/>
                    </a:p>
                  </a:txBody>
                  <a:tcPr/>
                </a:tc>
              </a:tr>
              <a:tr h="7075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по-малко разпръсната подготовка</a:t>
                      </a:r>
                    </a:p>
                    <a:p>
                      <a:pPr algn="ctr"/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подредени материали и задачи</a:t>
                      </a:r>
                    </a:p>
                    <a:p>
                      <a:pPr algn="ctr"/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noProof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по-ясна връзка между планиране и урок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повторно използване и адаптиране</a:t>
                      </a:r>
                    </a:p>
                    <a:p>
                      <a:pPr algn="ctr"/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noProof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яснота какво трябва да постигне</a:t>
                      </a:r>
                    </a:p>
                    <a:p>
                      <a:pPr algn="ctr"/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основа за професионален разговор</a:t>
                      </a:r>
                    </a:p>
                    <a:p>
                      <a:pPr algn="ctr"/>
                      <a:endParaRPr lang="bg-B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noProof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връзка между цели, дейности и оценяване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възможност за самостоятелна работа</a:t>
                      </a:r>
                    </a:p>
                    <a:p>
                      <a:pPr algn="ctr"/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споделяне на добри практики</a:t>
                      </a:r>
                    </a:p>
                    <a:p>
                      <a:pPr algn="ctr"/>
                      <a:endParaRPr lang="bg-B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/>
                        <a:t>документи при необходимост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по-добър достъп до ресурси</a:t>
                      </a:r>
                    </a:p>
                    <a:p>
                      <a:pPr algn="ctr"/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kern="1200" noProof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без налагане на един стил</a:t>
                      </a:r>
                    </a:p>
                    <a:p>
                      <a:pPr algn="ctr"/>
                      <a:endParaRPr lang="bg-BG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84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21871" b="21871"/>
          <a:stretch>
            <a:fillRect/>
          </a:stretch>
        </p:blipFill>
        <p:spPr>
          <a:xfrm>
            <a:off x="15" y="-152400"/>
            <a:ext cx="12191985" cy="457835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="" xmlns:a16="http://schemas.microsoft.com/office/drawing/2014/main" id="{E444079D-629C-4C44-8DB6-B4B5E7C5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858" y="4578350"/>
            <a:ext cx="10113645" cy="743682"/>
          </a:xfrm>
        </p:spPr>
        <p:txBody>
          <a:bodyPr/>
          <a:lstStyle/>
          <a:p>
            <a:r>
              <a:rPr lang="bg-BG" dirty="0" smtClean="0"/>
              <a:t>ИРИДА -  покана </a:t>
            </a:r>
            <a:r>
              <a:rPr lang="bg-BG" dirty="0"/>
              <a:t>за сътрудничество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59B328BF-1AD6-4365-B1FE-A5A396732871}"/>
              </a:ext>
            </a:extLst>
          </p:cNvPr>
          <p:cNvSpPr txBox="1">
            <a:spLocks/>
          </p:cNvSpPr>
          <p:nvPr/>
        </p:nvSpPr>
        <p:spPr>
          <a:xfrm>
            <a:off x="797681" y="5503367"/>
            <a:ext cx="10235821" cy="1314956"/>
          </a:xfrm>
          <a:prstGeom prst="rect">
            <a:avLst/>
          </a:prstGeom>
          <a:noFill/>
        </p:spPr>
        <p:txBody>
          <a:bodyPr vert="horz" lIns="0" tIns="45720" rIns="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>
                <a:solidFill>
                  <a:schemeClr val="bg1"/>
                </a:solidFill>
                <a:latin typeface="+mj-lt"/>
              </a:rPr>
              <a:t>Работа в екип – поделена отговорност и идеи</a:t>
            </a:r>
          </a:p>
          <a:p>
            <a:pPr algn="ctr"/>
            <a:r>
              <a:rPr lang="ru-RU" dirty="0" smtClean="0">
                <a:solidFill>
                  <a:schemeClr val="bg1"/>
                </a:solidFill>
                <a:latin typeface="+mj-lt"/>
              </a:rPr>
              <a:t>Дискусия, споделяне на опит, постоянно усъвършенстване</a:t>
            </a:r>
          </a:p>
          <a:p>
            <a:pPr algn="ctr"/>
            <a:r>
              <a:rPr lang="ru-RU" dirty="0" smtClean="0">
                <a:solidFill>
                  <a:schemeClr val="bg1"/>
                </a:solidFill>
                <a:latin typeface="+mj-lt"/>
              </a:rPr>
              <a:t>Общи следващи стъпки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3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9E3965E-AC41-4711-9D10-E25ABB132D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F5DC8C3-BA5F-4EED-BB9A-A14272BD82A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FBDCECDC-EEE3-4128-AA5E-82A8C08796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69" y="870450"/>
            <a:ext cx="11723427" cy="23582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bg-BG" sz="6000" dirty="0">
                <a:solidFill>
                  <a:srgbClr val="FFFFFF"/>
                </a:solidFill>
                <a:latin typeface="+mj-lt"/>
              </a:rPr>
              <a:t>Благодаря за вниманието!</a:t>
            </a:r>
            <a:endParaRPr lang="en-US" sz="6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4260EDE0-989C-4E16-AF94-F652294D82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ru-RU" sz="2400" cap="all" spc="200" dirty="0">
                <a:solidFill>
                  <a:srgbClr val="FFFFFF"/>
                </a:solidFill>
              </a:rPr>
              <a:t>Очаквам вашите въпроси, идеи и предложения.</a:t>
            </a:r>
            <a:endParaRPr lang="en-US" sz="2400" cap="all" spc="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E879E6-8FFE-4154-8F2A-F7518B89B376}">
  <ds:schemaRefs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814</Words>
  <Application>Microsoft Office PowerPoint</Application>
  <PresentationFormat>По избор</PresentationFormat>
  <Paragraphs>121</Paragraphs>
  <Slides>12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12</vt:i4>
      </vt:variant>
    </vt:vector>
  </HeadingPairs>
  <TitlesOfParts>
    <vt:vector size="13" baseType="lpstr">
      <vt:lpstr>RetrospectVTI</vt:lpstr>
      <vt:lpstr>ИРИДА:</vt:lpstr>
      <vt:lpstr>подготовката на урок е разпръсната</vt:lpstr>
      <vt:lpstr>кратко определение</vt:lpstr>
      <vt:lpstr>Три нива на работа</vt:lpstr>
      <vt:lpstr>пътят  от учебната програма  до урока</vt:lpstr>
      <vt:lpstr>логиката  на един урок</vt:lpstr>
      <vt:lpstr>Демонстрация на живо</vt:lpstr>
      <vt:lpstr>Съвместимост, а не противопоставяне</vt:lpstr>
      <vt:lpstr>Демонстрация на живо</vt:lpstr>
      <vt:lpstr>Ползи и реалистични ограничения</vt:lpstr>
      <vt:lpstr>ИРИДА -  покана за сътрудничество</vt:lpstr>
      <vt:lpstr>Благодаря за вниманието!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2025-07-02T19:04:35Z</dcterms:created>
  <dcterms:modified xsi:type="dcterms:W3CDTF">2026-09-28T20:26:06Z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