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13"/>
  </p:notesMasterIdLst>
  <p:handoutMasterIdLst>
    <p:handoutMasterId r:id="rId14"/>
  </p:handoutMasterIdLst>
  <p:sldIdLst>
    <p:sldId id="258" r:id="rId5"/>
    <p:sldId id="293" r:id="rId6"/>
    <p:sldId id="295" r:id="rId7"/>
    <p:sldId id="284" r:id="rId8"/>
    <p:sldId id="296" r:id="rId9"/>
    <p:sldId id="297" r:id="rId10"/>
    <p:sldId id="298" r:id="rId11"/>
    <p:sldId id="29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8527" autoAdjust="0"/>
  </p:normalViewPr>
  <p:slideViewPr>
    <p:cSldViewPr snapToGrid="0">
      <p:cViewPr varScale="1">
        <p:scale>
          <a:sx n="56" d="100"/>
          <a:sy n="56" d="100"/>
        </p:scale>
        <p:origin x="159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7/6/2025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Здравейте колеги. Днес ще ви представя проекта ИРИДА – модел за иновация и адаптивност в преподаването на „Приложно програмиране“. Ще споделя с вас концепцията, стъпките и ползите, както и как можем заедно да го реализираме в нашето училище.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5062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Формулирането на ясни, конкретни и измерими цели и задачи за всеки учебен предмет е ключов етап в процеса на адаптиране и детайлизиране на училищните учебни програми. Този процес гарантира, че обучението не само отговаря на държавните изисквания, но и е съобразено с конкретните нужди на учениците, спецификата на училището и актуалните професионални стандарти.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2664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основата на формулирането на цели и задачи стоят няколко основни документа:</a:t>
            </a:r>
          </a:p>
          <a:p>
            <a:r>
              <a:rPr lang="ru-RU" dirty="0" smtClean="0"/>
              <a:t>•</a:t>
            </a:r>
            <a:r>
              <a:rPr lang="ru-RU" b="1" dirty="0" smtClean="0"/>
              <a:t>Държавен образователен стандарт (ДОС)</a:t>
            </a:r>
            <a:r>
              <a:rPr lang="ru-RU" dirty="0" smtClean="0"/>
              <a:t> – дефинира очакваните резултати от обучението, базовите компетентности и минималните изисквания към знанията и уменията на учениците на ниво специалност.</a:t>
            </a:r>
          </a:p>
          <a:p>
            <a:r>
              <a:rPr lang="ru-RU" dirty="0" smtClean="0"/>
              <a:t>•</a:t>
            </a:r>
            <a:r>
              <a:rPr lang="ru-RU" b="1" dirty="0" smtClean="0"/>
              <a:t>Национална изпитна програма (НИП)</a:t>
            </a:r>
            <a:r>
              <a:rPr lang="ru-RU" dirty="0" smtClean="0"/>
              <a:t> – конкретизира изискванията за държавния изпит за придобиване на професионална квалификация по специалността, като очертава ключовите теми, умения и типове задачи, които трябва да бъдат овладени.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 smtClean="0"/>
              <a:t>•</a:t>
            </a:r>
            <a:r>
              <a:rPr lang="ru-RU" b="1" dirty="0" smtClean="0"/>
              <a:t>Рамкова учебна програма</a:t>
            </a:r>
            <a:r>
              <a:rPr lang="ru-RU" dirty="0" smtClean="0"/>
              <a:t> – определя общите параметри на обучението по дадена</a:t>
            </a:r>
            <a:r>
              <a:rPr lang="ru-RU" baseline="0" dirty="0" smtClean="0"/>
              <a:t> учебна дисциплина най често до ниво тема/подтема и  </a:t>
            </a:r>
            <a:r>
              <a:rPr lang="ru-RU" dirty="0" smtClean="0"/>
              <a:t>хорариум по теми. Рамкова за да я различаваме от тази която ние ще разработим – училищната.</a:t>
            </a:r>
          </a:p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4355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Въпреки че рамковата учебна програма и НИП задават общите рамки, всяко училище има възможност и отговорност да детайлизира и адаптира целите и задачите според:</a:t>
            </a:r>
          </a:p>
          <a:p>
            <a:r>
              <a:rPr lang="ru-RU" dirty="0" smtClean="0"/>
              <a:t>•	Профила и нивото на учениците (например: наличие на ученици със специални образователни потребности или с изявени интереси в дадена област);</a:t>
            </a:r>
          </a:p>
          <a:p>
            <a:r>
              <a:rPr lang="ru-RU" dirty="0" smtClean="0"/>
              <a:t>•	Материалната база и наличните ресурси;</a:t>
            </a:r>
          </a:p>
          <a:p>
            <a:r>
              <a:rPr lang="ru-RU" dirty="0" smtClean="0"/>
              <a:t>•	Квалификацията и опита на преподавателите;</a:t>
            </a:r>
          </a:p>
          <a:p>
            <a:r>
              <a:rPr lang="ru-RU" dirty="0" smtClean="0"/>
              <a:t>•	Специфичните традиции и приоритети на училището.</a:t>
            </a:r>
          </a:p>
          <a:p>
            <a:r>
              <a:rPr lang="ru-RU" dirty="0" smtClean="0"/>
              <a:t>Това адаптиране позволява учебният процес да бъде по-ефективен, мотивиращ и релевантен към реалните нужди на учениците и възможности на учителитеи училището.</a:t>
            </a:r>
          </a:p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4752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а) Анализ на рамковите и изпитните изисквания</a:t>
            </a:r>
          </a:p>
          <a:p>
            <a:pPr lvl="1"/>
            <a:r>
              <a:rPr lang="ru-RU" dirty="0" smtClean="0"/>
              <a:t>•Преглеждат се целите, заложени в рамковата програма и НИП.</a:t>
            </a:r>
          </a:p>
          <a:p>
            <a:pPr lvl="1"/>
            <a:r>
              <a:rPr lang="ru-RU" dirty="0" smtClean="0"/>
              <a:t>•Извеждат се ключовите компетентности и резултати, които трябва да бъдат постигнати.</a:t>
            </a:r>
          </a:p>
          <a:p>
            <a:r>
              <a:rPr lang="ru-RU" dirty="0" smtClean="0"/>
              <a:t>б) Формулиране на училищни (локални) цели</a:t>
            </a:r>
          </a:p>
          <a:p>
            <a:pPr lvl="1"/>
            <a:r>
              <a:rPr lang="ru-RU" dirty="0" smtClean="0"/>
              <a:t>•На база на анализа се формулират конкретни цели за предмета, които са съгласувани с ДОС и НИП, но са адаптирани към спецификата на училището.</a:t>
            </a:r>
          </a:p>
          <a:p>
            <a:pPr lvl="1"/>
            <a:r>
              <a:rPr lang="ru-RU" dirty="0" smtClean="0"/>
              <a:t>•Пример: Ако рамковата програма изисква овладяване на „основни принципи на обектно-ориентираното програмиране“, училищната цел може да бъде: „Учениците да могат да създават и използват класове и обекти в Python за решаване на практически задачи.“</a:t>
            </a:r>
          </a:p>
          <a:p>
            <a:r>
              <a:rPr lang="ru-RU" dirty="0" smtClean="0"/>
              <a:t>в) Дефиниране на задачи (очаквани резултати)</a:t>
            </a:r>
          </a:p>
          <a:p>
            <a:pPr lvl="1"/>
            <a:r>
              <a:rPr lang="ru-RU" dirty="0" smtClean="0"/>
              <a:t>•Задачите конкретизират какво трябва да може да прави ученикът след завършване на обучението по дадения предмет/модул.</a:t>
            </a:r>
          </a:p>
          <a:p>
            <a:pPr lvl="1"/>
            <a:r>
              <a:rPr lang="ru-RU" dirty="0" smtClean="0"/>
              <a:t>•Те трябва да са конкретни, измерими и ориентирани към практическото приложение.</a:t>
            </a:r>
          </a:p>
          <a:p>
            <a:pPr lvl="1"/>
            <a:r>
              <a:rPr lang="ru-RU" dirty="0" smtClean="0"/>
              <a:t>•Пример: „Да дефинира клас с конструктор и методи“, „Да използва наследяване при решаване на задачи“, „Да обработва изключения при работа с файлове“.</a:t>
            </a:r>
          </a:p>
          <a:p>
            <a:r>
              <a:rPr lang="ru-RU" dirty="0" smtClean="0"/>
              <a:t>г) Съгласуване и валидиране</a:t>
            </a:r>
          </a:p>
          <a:p>
            <a:pPr lvl="1"/>
            <a:r>
              <a:rPr lang="ru-RU" dirty="0" smtClean="0"/>
              <a:t>•Формулираните цели и задачи се обсъждат в екипа от преподаватели, за да се гарантира съответствие с нормативната база и изпитните изисквания.</a:t>
            </a:r>
          </a:p>
          <a:p>
            <a:pPr lvl="1"/>
            <a:r>
              <a:rPr lang="ru-RU" dirty="0" smtClean="0"/>
              <a:t>•При необходимост се правят корекции, за да се избегнат дублирания или пропуски.</a:t>
            </a:r>
          </a:p>
          <a:p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8816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Формулирането на </a:t>
            </a:r>
            <a:r>
              <a:rPr lang="ru-RU" b="1" dirty="0" smtClean="0"/>
              <a:t>собствени цели и задачи </a:t>
            </a:r>
            <a:r>
              <a:rPr lang="ru-RU" dirty="0" smtClean="0"/>
              <a:t>по даден предмет е процес на прецизно адаптиране на държавните изисквания към </a:t>
            </a:r>
            <a:r>
              <a:rPr lang="ru-RU" b="1" dirty="0" smtClean="0"/>
              <a:t>реалните</a:t>
            </a:r>
            <a:r>
              <a:rPr lang="ru-RU" dirty="0" smtClean="0"/>
              <a:t> условия и потребности на училището и учениците. Това е основа за ефективно, мотивиращо и съвременно професионално обучение.</a:t>
            </a:r>
            <a:endParaRPr lang="ru-RU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49800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6709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EFB0D-6DB6-450D-981E-DB5B064ABC8F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6C8650-8C82-4FB0-9266-0148B376A8CE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E01-3159-42E8-9946-B3F7564EBC72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1FC6A6-F894-471F-8AA4-AE4112290279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3D98FD-B63D-46E0-B974-EC5BBAC02E27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ECCD-A9BB-4C40-8999-9FDE0B2AF02D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1315-80A2-4A6F-99BC-2337EDBA509A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3FCEE-D38D-4315-8661-B8B16CE6B114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7909053-E1DD-4959-BC7A-C98D3D2614D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B9C849-F1D8-4230-9F2F-9250D675BB2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B7022-84E8-42F0-8AEA-ADED76AFD446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D4C0741-442A-4788-81DA-4F081D559C5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70BDB9F-6784-464D-8ED7-29E60E2B21A9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A3ABBD-A00D-4624-9D57-736F5DDBFAB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6BF20AA-C418-460A-B9CF-8F3DD94C436D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3F5CE0-F8B8-4EAA-822E-6451047E7D5F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1F8AE65-7CE3-49A8-B2CC-A5A64E5730FA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046700-360D-4474-9946-7580E8968658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667F3-A942-43B7-9681-6435F4941075}" type="datetime1">
              <a:rPr lang="en-US" smtClean="0"/>
              <a:t>7/6/2025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76BB9-001A-4B59-8C51-603E71AE3226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 smtClean="0"/>
              <a:t>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10F8E8D-DF54-49BE-BDBC-401B280C4E3C}" type="datetime1">
              <a:rPr lang="en-US" noProof="0" smtClean="0"/>
              <a:t>7/6/2025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Group of people talking">
            <a:extLst>
              <a:ext uri="{FF2B5EF4-FFF2-40B4-BE49-F238E27FC236}">
                <a16:creationId xmlns:a16="http://schemas.microsoft.com/office/drawing/2014/main" id="{C7D5F6B1-1228-4C2A-AE2C-950C34054CE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6311900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6545" y="614149"/>
            <a:ext cx="4526280" cy="943015"/>
          </a:xfrm>
        </p:spPr>
        <p:txBody>
          <a:bodyPr/>
          <a:lstStyle/>
          <a:p>
            <a:r>
              <a:rPr lang="bg-BG" dirty="0" smtClean="0"/>
              <a:t>ИРИДА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3704" t="50" r="20718" b="-202"/>
          <a:stretch/>
        </p:blipFill>
        <p:spPr>
          <a:xfrm>
            <a:off x="-1194369" y="0"/>
            <a:ext cx="7506269" cy="6858000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A017FF9C-6A7E-4A79-81BB-438E8EA9676A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 txBox="1">
            <a:spLocks/>
          </p:cNvSpPr>
          <p:nvPr/>
        </p:nvSpPr>
        <p:spPr>
          <a:xfrm>
            <a:off x="6632171" y="1802824"/>
            <a:ext cx="4526280" cy="20594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 spc="-50" baseline="0">
                <a:solidFill>
                  <a:schemeClr val="accent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r"/>
            <a:r>
              <a:rPr lang="ru-RU" sz="3600" dirty="0">
                <a:solidFill>
                  <a:schemeClr val="tx1"/>
                </a:solidFill>
              </a:rPr>
              <a:t>Стъпка </a:t>
            </a:r>
            <a:r>
              <a:rPr lang="ru-RU" sz="3600" dirty="0" smtClean="0">
                <a:solidFill>
                  <a:schemeClr val="tx1"/>
                </a:solidFill>
              </a:rPr>
              <a:t>4</a:t>
            </a:r>
          </a:p>
          <a:p>
            <a:pPr algn="r"/>
            <a:endParaRPr lang="ru-RU" sz="3600" dirty="0">
              <a:solidFill>
                <a:schemeClr val="tx1"/>
              </a:solidFill>
            </a:endParaRPr>
          </a:p>
          <a:p>
            <a:pPr algn="r"/>
            <a:r>
              <a:rPr lang="ru-RU" sz="3600" dirty="0" smtClean="0">
                <a:solidFill>
                  <a:schemeClr val="tx1"/>
                </a:solidFill>
              </a:rPr>
              <a:t>Определяне </a:t>
            </a:r>
            <a:r>
              <a:rPr lang="ru-RU" sz="3600" dirty="0">
                <a:solidFill>
                  <a:schemeClr val="tx1"/>
                </a:solidFill>
              </a:rPr>
              <a:t>на цели и задачи</a:t>
            </a:r>
            <a:endParaRPr lang="en-US" sz="36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7890" y="5718412"/>
            <a:ext cx="2182140" cy="80474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074447"/>
              </p:ext>
            </p:extLst>
          </p:nvPr>
        </p:nvGraphicFramePr>
        <p:xfrm>
          <a:off x="6402657" y="4958982"/>
          <a:ext cx="5789343" cy="5113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89343">
                  <a:extLst>
                    <a:ext uri="{9D8B030D-6E8A-4147-A177-3AD203B41FA5}">
                      <a16:colId xmlns:a16="http://schemas.microsoft.com/office/drawing/2014/main" val="25677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600" cap="all" spc="100" dirty="0">
                          <a:effectLst/>
                        </a:rPr>
                        <a:t>Банско 2025</a:t>
                      </a:r>
                      <a:endParaRPr lang="bg-BG" sz="1400" dirty="0">
                        <a:effectLst/>
                      </a:endParaRP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bg-BG" sz="1400" dirty="0" smtClean="0">
                          <a:effectLst/>
                        </a:rPr>
                        <a:t>инж</a:t>
                      </a:r>
                      <a:r>
                        <a:rPr lang="bg-BG" sz="1400" dirty="0">
                          <a:effectLst/>
                        </a:rPr>
                        <a:t>. Георги Бориков</a:t>
                      </a:r>
                      <a:endParaRPr lang="bg-BG" sz="1400" b="1" dirty="0">
                        <a:solidFill>
                          <a:srgbClr val="082A75"/>
                        </a:solidFill>
                        <a:effectLst/>
                        <a:latin typeface="Calibri" panose="020F0502020204030204" pitchFamily="34" charset="0"/>
                        <a:ea typeface="MS Mincho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/>
                </a:tc>
                <a:extLst>
                  <a:ext uri="{0D108BD9-81ED-4DB2-BD59-A6C34878D82A}">
                    <a16:rowId xmlns:a16="http://schemas.microsoft.com/office/drawing/2014/main" val="1728547444"/>
                  </a:ext>
                </a:extLst>
              </a:tr>
            </a:tbl>
          </a:graphicData>
        </a:graphic>
      </p:graphicFrame>
      <p:cxnSp>
        <p:nvCxnSpPr>
          <p:cNvPr id="9" name="Право съединение 6" descr="Разделител на текст"/>
          <p:cNvCxnSpPr/>
          <p:nvPr/>
        </p:nvCxnSpPr>
        <p:spPr>
          <a:xfrm>
            <a:off x="6469080" y="5229503"/>
            <a:ext cx="1637690" cy="8834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18" y="1963500"/>
            <a:ext cx="3697009" cy="2093975"/>
          </a:xfrm>
        </p:spPr>
        <p:txBody>
          <a:bodyPr/>
          <a:lstStyle/>
          <a:p>
            <a:r>
              <a:rPr lang="bg-BG" dirty="0" smtClean="0"/>
              <a:t>В предишното</a:t>
            </a:r>
            <a:br>
              <a:rPr lang="bg-BG" dirty="0" smtClean="0"/>
            </a:br>
            <a:r>
              <a:rPr lang="bg-BG" dirty="0" smtClean="0"/>
              <a:t>занятие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293" y="459457"/>
            <a:ext cx="5367532" cy="5102060"/>
          </a:xfrm>
        </p:spPr>
        <p:txBody>
          <a:bodyPr>
            <a:normAutofit/>
          </a:bodyPr>
          <a:lstStyle/>
          <a:p>
            <a:pPr algn="just"/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Запознахме се с </a:t>
            </a:r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нормативните рамка</a:t>
            </a:r>
            <a:r>
              <a:rPr lang="en-US" dirty="0" smtClean="0"/>
              <a:t> </a:t>
            </a:r>
            <a:endParaRPr lang="bg-BG" dirty="0" smtClean="0"/>
          </a:p>
          <a:p>
            <a:pPr marL="0" indent="0" algn="just">
              <a:buNone/>
            </a:pPr>
            <a:r>
              <a:rPr lang="en-US" dirty="0" smtClean="0"/>
              <a:t> </a:t>
            </a:r>
            <a:endParaRPr lang="bg-BG" dirty="0" smtClean="0"/>
          </a:p>
          <a:p>
            <a:pPr algn="just"/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Направихме анализ </a:t>
            </a: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рамковия учебен 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план</a:t>
            </a:r>
            <a:r>
              <a:rPr lang="en-US" dirty="0" smtClean="0"/>
              <a:t> </a:t>
            </a:r>
            <a:endParaRPr lang="bg-BG" dirty="0" smtClean="0"/>
          </a:p>
          <a:p>
            <a:pPr algn="just"/>
            <a:endParaRPr lang="bg-BG" dirty="0" smtClean="0"/>
          </a:p>
          <a:p>
            <a:pPr algn="just"/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Формирахме собствен(адаптиран) вариант на ученбния план </a:t>
            </a:r>
          </a:p>
          <a:p>
            <a:pPr marL="0" indent="0" algn="just">
              <a:buNone/>
            </a:pPr>
            <a:endParaRPr lang="bg-BG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Определихме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учебните </a:t>
            </a:r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седмици</a:t>
            </a:r>
          </a:p>
        </p:txBody>
      </p:sp>
      <p:grpSp>
        <p:nvGrpSpPr>
          <p:cNvPr id="10" name="Group 9" descr="Info">
            <a:extLst>
              <a:ext uri="{FF2B5EF4-FFF2-40B4-BE49-F238E27FC236}">
                <a16:creationId xmlns:a16="http://schemas.microsoft.com/office/drawing/2014/main" id="{04EACC33-3BBF-4195-8927-841FEBB364AD}"/>
              </a:ext>
            </a:extLst>
          </p:cNvPr>
          <p:cNvGrpSpPr/>
          <p:nvPr/>
        </p:nvGrpSpPr>
        <p:grpSpPr>
          <a:xfrm>
            <a:off x="4637454" y="2530474"/>
            <a:ext cx="803276" cy="803276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00D0FC6-FE6C-422D-87EC-3F2A40F92771}"/>
                </a:ext>
              </a:extLst>
            </p:cNvPr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ADF13BE-BF58-43E3-9534-281EFDABF659}"/>
                </a:ext>
              </a:extLst>
            </p:cNvPr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14EC720-9A79-4D18-8746-AE0BDD325E79}"/>
                </a:ext>
              </a:extLst>
            </p:cNvPr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9971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1097BE-A044-49F5-B5CA-AE183B95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18" y="1963500"/>
            <a:ext cx="3697009" cy="2093975"/>
          </a:xfrm>
        </p:spPr>
        <p:txBody>
          <a:bodyPr>
            <a:normAutofit/>
          </a:bodyPr>
          <a:lstStyle/>
          <a:p>
            <a:r>
              <a:rPr lang="bg-BG" dirty="0" smtClean="0"/>
              <a:t>Какво предстои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1E9392-71EA-4293-909F-1FE7DD38E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4072" y="1725491"/>
            <a:ext cx="5058182" cy="4552479"/>
          </a:xfrm>
        </p:spPr>
        <p:txBody>
          <a:bodyPr>
            <a:normAutofit/>
          </a:bodyPr>
          <a:lstStyle/>
          <a:p>
            <a:pPr algn="just"/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Теория</a:t>
            </a:r>
          </a:p>
          <a:p>
            <a:pPr lvl="1" algn="just"/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Изходни </a:t>
            </a:r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документи и нормативна </a:t>
            </a:r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рамка</a:t>
            </a:r>
          </a:p>
          <a:p>
            <a:pPr lvl="1" algn="just"/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Адаптиране към училищния </a:t>
            </a:r>
            <a:r>
              <a:rPr lang="ru-RU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контекст</a:t>
            </a:r>
          </a:p>
          <a:p>
            <a:pPr lvl="1" algn="just"/>
            <a:r>
              <a:rPr lang="ru-RU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Стъпки при формулиране на цели и задачи</a:t>
            </a: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bg-BG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algn="just"/>
            <a:r>
              <a:rPr lang="bg-BG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Значение и </a:t>
            </a:r>
            <a:r>
              <a:rPr lang="bg-BG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ползи</a:t>
            </a:r>
          </a:p>
          <a:p>
            <a:pPr algn="just"/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Демонстрация </a:t>
            </a:r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конкретен пример</a:t>
            </a:r>
            <a:endParaRPr lang="bg-BG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bg-B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Самостоятелна </a:t>
            </a:r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работа</a:t>
            </a:r>
          </a:p>
          <a:p>
            <a:pPr algn="just"/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Колективно обсъждане</a:t>
            </a:r>
            <a:r>
              <a:rPr lang="bg-BG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8527" y="2564623"/>
            <a:ext cx="805424" cy="8054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654722" y="428851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Стъпка </a:t>
            </a:r>
            <a:r>
              <a:rPr lang="ru-RU" sz="2800" b="1" dirty="0" smtClean="0">
                <a:solidFill>
                  <a:schemeClr val="accent2"/>
                </a:solidFill>
              </a:rPr>
              <a:t>4 </a:t>
            </a:r>
          </a:p>
          <a:p>
            <a:r>
              <a:rPr lang="ru-RU" sz="2800" b="1" dirty="0" smtClean="0">
                <a:solidFill>
                  <a:schemeClr val="accent2"/>
                </a:solidFill>
              </a:rPr>
              <a:t>Определяне </a:t>
            </a:r>
            <a:r>
              <a:rPr lang="ru-RU" sz="2800" b="1" dirty="0">
                <a:solidFill>
                  <a:schemeClr val="accent2"/>
                </a:solidFill>
              </a:rPr>
              <a:t>на цели и задачи</a:t>
            </a:r>
          </a:p>
        </p:txBody>
      </p:sp>
    </p:spTree>
    <p:extLst>
      <p:ext uri="{BB962C8B-B14F-4D97-AF65-F5344CB8AC3E}">
        <p14:creationId xmlns:p14="http://schemas.microsoft.com/office/powerpoint/2010/main" val="3993852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201003"/>
            <a:ext cx="3314700" cy="3384645"/>
          </a:xfrm>
        </p:spPr>
        <p:txBody>
          <a:bodyPr>
            <a:normAutofit/>
          </a:bodyPr>
          <a:lstStyle/>
          <a:p>
            <a:r>
              <a:rPr lang="bg-BG" dirty="0"/>
              <a:t>Изходни документи и нормативна рамка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8214" y="1678674"/>
            <a:ext cx="5186597" cy="3057099"/>
          </a:xfrm>
        </p:spPr>
        <p:txBody>
          <a:bodyPr numCol="1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Държавен 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образователен стандарт (ДОС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bg-B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Национална изпитна програма (НИП</a:t>
            </a:r>
            <a:r>
              <a:rPr lang="bg-B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Рамкова учебна програма 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201003"/>
            <a:ext cx="3314700" cy="3384645"/>
          </a:xfrm>
        </p:spPr>
        <p:txBody>
          <a:bodyPr>
            <a:normAutofit/>
          </a:bodyPr>
          <a:lstStyle/>
          <a:p>
            <a:r>
              <a:rPr lang="bg-BG" dirty="0"/>
              <a:t>Адаптиране към училищния контекст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2805" y="2279176"/>
            <a:ext cx="5186597" cy="3057099"/>
          </a:xfrm>
        </p:spPr>
        <p:txBody>
          <a:bodyPr numCol="1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Профила и нивото на учениците 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bg-B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Материалната база и наличните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ресурси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Специфичните традиции и приоритети на училището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</p:txBody>
      </p:sp>
      <p:sp>
        <p:nvSpPr>
          <p:cNvPr id="19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 txBox="1">
            <a:spLocks/>
          </p:cNvSpPr>
          <p:nvPr/>
        </p:nvSpPr>
        <p:spPr>
          <a:xfrm>
            <a:off x="5418717" y="423721"/>
            <a:ext cx="5440685" cy="1554564"/>
          </a:xfrm>
          <a:prstGeom prst="rect">
            <a:avLst/>
          </a:prstGeom>
        </p:spPr>
        <p:txBody>
          <a:bodyPr vert="horz" lIns="0" tIns="45720" rIns="0" bIns="45720" numCol="1" rtlCol="0" anchor="ctr">
            <a:normAutofit/>
          </a:bodyPr>
          <a:lstStyle>
            <a:lvl1pPr marL="266700" indent="-26670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smtClean="0">
                <a:solidFill>
                  <a:schemeClr val="accent1">
                    <a:lumMod val="75000"/>
                  </a:schemeClr>
                </a:solidFill>
              </a:rPr>
              <a:t>Всяко </a:t>
            </a:r>
            <a:r>
              <a:rPr lang="ru-RU" b="1" dirty="0">
                <a:solidFill>
                  <a:schemeClr val="accent1">
                    <a:lumMod val="75000"/>
                  </a:schemeClr>
                </a:solidFill>
              </a:rPr>
              <a:t>училище има възможност и отговорност да детайлизира и адаптира целите и задачите според</a:t>
            </a:r>
            <a:endParaRPr lang="bg-BG" b="1" dirty="0" smtClean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458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201003"/>
            <a:ext cx="3712191" cy="3384645"/>
          </a:xfrm>
        </p:spPr>
        <p:txBody>
          <a:bodyPr>
            <a:normAutofit/>
          </a:bodyPr>
          <a:lstStyle/>
          <a:p>
            <a:r>
              <a:rPr lang="ru-RU" dirty="0"/>
              <a:t>Стъпки при формулиране на цели и задачи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65" y="1733266"/>
            <a:ext cx="5440685" cy="3057099"/>
          </a:xfrm>
        </p:spPr>
        <p:txBody>
          <a:bodyPr numCol="1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на рамковите и изпитните изисквания 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bg-B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Формулиране на училищни (локални)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цели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Дефиниране на задачи (очаквани резултати)</a:t>
            </a:r>
            <a:r>
              <a:rPr lang="bg-B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</p:txBody>
      </p:sp>
    </p:spTree>
    <p:extLst>
      <p:ext uri="{BB962C8B-B14F-4D97-AF65-F5344CB8AC3E}">
        <p14:creationId xmlns:p14="http://schemas.microsoft.com/office/powerpoint/2010/main" val="285164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200" y="1201003"/>
            <a:ext cx="3712191" cy="3384645"/>
          </a:xfrm>
        </p:spPr>
        <p:txBody>
          <a:bodyPr>
            <a:normAutofit/>
          </a:bodyPr>
          <a:lstStyle/>
          <a:p>
            <a:r>
              <a:rPr lang="ru-RU" dirty="0"/>
              <a:t>Значение и ползи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FC70B0-5D08-4BDC-852E-3FD7214DA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65" y="1733266"/>
            <a:ext cx="5440685" cy="3057099"/>
          </a:xfrm>
        </p:spPr>
        <p:txBody>
          <a:bodyPr numCol="1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Яснотата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целите и задачите 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7348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улеснява </a:t>
            </a:r>
            <a:r>
              <a:rPr lang="ru-RU" dirty="0"/>
              <a:t>планирането на учебния процес, избора на подходящи методи и средства на обучение, както и разработването на ефективни инструменти за оценяване</a:t>
            </a:r>
            <a:r>
              <a:rPr lang="ru-RU" dirty="0" smtClean="0"/>
              <a:t>.</a:t>
            </a:r>
          </a:p>
          <a:p>
            <a:pPr marL="117348" lvl="1" indent="0" algn="just">
              <a:spcBef>
                <a:spcPts val="0"/>
              </a:spcBef>
              <a:spcAft>
                <a:spcPts val="0"/>
              </a:spcAft>
              <a:buNone/>
            </a:pPr>
            <a:endParaRPr lang="ru-RU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Съгласуваността </a:t>
            </a:r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 НИП </a:t>
            </a:r>
            <a:endPara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17348" lvl="1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гарантира</a:t>
            </a:r>
            <a:r>
              <a:rPr lang="ru-RU" dirty="0"/>
              <a:t>, че учениците ще бъдат подготвени за държавните изпити и ще покриват изискваните професионални стандарти.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bg-BG" b="1" dirty="0" smtClean="0"/>
          </a:p>
        </p:txBody>
      </p:sp>
    </p:spTree>
    <p:extLst>
      <p:ext uri="{BB962C8B-B14F-4D97-AF65-F5344CB8AC3E}">
        <p14:creationId xmlns:p14="http://schemas.microsoft.com/office/powerpoint/2010/main" val="3732424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269" y="1297352"/>
            <a:ext cx="11723427" cy="23582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bg-BG" sz="6000" dirty="0">
                <a:solidFill>
                  <a:srgbClr val="FFFFFF"/>
                </a:solidFill>
                <a:latin typeface="+mj-lt"/>
              </a:rPr>
              <a:t>Благодаря за вниманието!</a:t>
            </a:r>
            <a:endParaRPr lang="en-US" sz="6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sz="2400" cap="all" spc="200" dirty="0" smtClean="0">
                <a:solidFill>
                  <a:srgbClr val="FFFFFF"/>
                </a:solidFill>
              </a:rPr>
              <a:t>Време за вашите </a:t>
            </a:r>
            <a:r>
              <a:rPr lang="ru-RU" sz="2400" cap="all" spc="200" dirty="0">
                <a:solidFill>
                  <a:srgbClr val="FFFFFF"/>
                </a:solidFill>
              </a:rPr>
              <a:t>въпроси, идеи и предложения</a:t>
            </a:r>
            <a:r>
              <a:rPr lang="ru-RU" sz="2400" cap="all" spc="200" dirty="0" smtClean="0">
                <a:solidFill>
                  <a:srgbClr val="FFFFFF"/>
                </a:solidFill>
              </a:rPr>
              <a:t>...</a:t>
            </a:r>
          </a:p>
          <a:p>
            <a:pPr marL="0" indent="0" algn="r">
              <a:buNone/>
            </a:pPr>
            <a:r>
              <a:rPr lang="ru-RU" sz="2400" cap="all" spc="200" dirty="0" smtClean="0">
                <a:solidFill>
                  <a:srgbClr val="FFFFFF"/>
                </a:solidFill>
              </a:rPr>
              <a:t>И за почивка!</a:t>
            </a:r>
            <a:endParaRPr lang="en-US" sz="2400" cap="all" spc="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purl.org/dc/dcmitype/"/>
    <ds:schemaRef ds:uri="http://schemas.microsoft.com/office/2006/metadata/properties"/>
    <ds:schemaRef ds:uri="71af3243-3dd4-4a8d-8c0d-dd76da1f02a5"/>
    <ds:schemaRef ds:uri="http://purl.org/dc/terms/"/>
    <ds:schemaRef ds:uri="http://schemas.microsoft.com/office/2006/documentManagement/types"/>
    <ds:schemaRef ds:uri="16c05727-aa75-4e4a-9b5f-8a80a1165891"/>
    <ds:schemaRef ds:uri="http://schemas.openxmlformats.org/package/2006/metadata/core-properties"/>
    <ds:schemaRef ds:uri="http://schemas.microsoft.com/office/infopath/2007/PartnerControls"/>
    <ds:schemaRef ds:uri="http://purl.org/dc/elements/1.1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746</Words>
  <Application>Microsoft Office PowerPoint</Application>
  <PresentationFormat>Widescreen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Calibri Light</vt:lpstr>
      <vt:lpstr>MS Mincho</vt:lpstr>
      <vt:lpstr>Times New Roman</vt:lpstr>
      <vt:lpstr>Wingdings</vt:lpstr>
      <vt:lpstr>RetrospectVTI</vt:lpstr>
      <vt:lpstr>ИРИДА</vt:lpstr>
      <vt:lpstr>В предишното занятие</vt:lpstr>
      <vt:lpstr>Какво предстои</vt:lpstr>
      <vt:lpstr>Изходни документи и нормативна рамка</vt:lpstr>
      <vt:lpstr>Адаптиране към училищния контекст</vt:lpstr>
      <vt:lpstr>Стъпки при формулиране на цели и задачи</vt:lpstr>
      <vt:lpstr>Значение и ползи</vt:lpstr>
      <vt:lpstr>Благодаря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2025-07-02T19:04:35Z</dcterms:created>
  <dcterms:modified xsi:type="dcterms:W3CDTF">2025-07-06T22:39:26Z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