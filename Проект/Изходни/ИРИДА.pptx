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13"/>
  </p:notesMasterIdLst>
  <p:handoutMasterIdLst>
    <p:handoutMasterId r:id="rId14"/>
  </p:handoutMasterIdLst>
  <p:sldIdLst>
    <p:sldId id="258" r:id="rId5"/>
    <p:sldId id="263" r:id="rId6"/>
    <p:sldId id="293" r:id="rId7"/>
    <p:sldId id="284" r:id="rId8"/>
    <p:sldId id="267" r:id="rId9"/>
    <p:sldId id="287" r:id="rId10"/>
    <p:sldId id="294" r:id="rId11"/>
    <p:sldId id="2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8527" autoAdjust="0"/>
  </p:normalViewPr>
  <p:slideViewPr>
    <p:cSldViewPr snapToGrid="0">
      <p:cViewPr varScale="1">
        <p:scale>
          <a:sx n="56" d="100"/>
          <a:sy n="56" d="100"/>
        </p:scale>
        <p:origin x="15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82322-65D9-4EF8-8969-CB4FCD55B1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A9820DA-81FE-4A14-B0EA-B65CD7161892}">
      <dgm:prSet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bg-BG" dirty="0" smtClean="0"/>
            <a:t>Съвременен и адаптивен подход</a:t>
          </a:r>
          <a:endParaRPr lang="en-US" dirty="0"/>
        </a:p>
      </dgm:t>
    </dgm:pt>
    <dgm:pt modelId="{7D86F940-3817-4F21-B70B-CDF9B2814FB6}" type="parTrans" cxnId="{23140E73-5C02-4E29-B677-CB0A65051E68}">
      <dgm:prSet/>
      <dgm:spPr/>
      <dgm:t>
        <a:bodyPr/>
        <a:lstStyle/>
        <a:p>
          <a:endParaRPr lang="en-US"/>
        </a:p>
      </dgm:t>
    </dgm:pt>
    <dgm:pt modelId="{A13B1399-C402-4A65-805A-4077B73F704E}" type="sibTrans" cxnId="{23140E73-5C02-4E29-B677-CB0A65051E68}">
      <dgm:prSet/>
      <dgm:spPr/>
      <dgm:t>
        <a:bodyPr/>
        <a:lstStyle/>
        <a:p>
          <a:endParaRPr lang="en-US"/>
        </a:p>
      </dgm:t>
    </dgm:pt>
    <dgm:pt modelId="{85CCB2CB-9E68-4B2C-9F1E-50CA45F3F4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ru-RU" dirty="0" smtClean="0"/>
            <a:t>Ясна приоритизация на учебното съдържание</a:t>
          </a:r>
          <a:endParaRPr lang="en-US" dirty="0"/>
        </a:p>
      </dgm:t>
    </dgm:pt>
    <dgm:pt modelId="{89638BAF-E3B3-4EC2-AD89-CF04956EB1D9}" type="parTrans" cxnId="{30268320-F02B-4006-B150-097885F597AB}">
      <dgm:prSet/>
      <dgm:spPr/>
      <dgm:t>
        <a:bodyPr/>
        <a:lstStyle/>
        <a:p>
          <a:endParaRPr lang="en-US"/>
        </a:p>
      </dgm:t>
    </dgm:pt>
    <dgm:pt modelId="{EC882073-29DC-49E2-8D0C-CE87001FF601}" type="sibTrans" cxnId="{30268320-F02B-4006-B150-097885F597AB}">
      <dgm:prSet/>
      <dgm:spPr/>
      <dgm:t>
        <a:bodyPr/>
        <a:lstStyle/>
        <a:p>
          <a:endParaRPr lang="en-US"/>
        </a:p>
      </dgm:t>
    </dgm:pt>
    <dgm:pt modelId="{438D9AB5-4B71-4E86-91B8-CCD3C6E465F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bg-BG" dirty="0" smtClean="0"/>
            <a:t>Включване на практически казуси и технологии</a:t>
          </a:r>
          <a:endParaRPr lang="en-US" dirty="0"/>
        </a:p>
      </dgm:t>
    </dgm:pt>
    <dgm:pt modelId="{0990FD5A-F3E8-49F8-AD75-18A09DFB88C9}" type="parTrans" cxnId="{B349604F-E5CF-4B20-9A83-A1E8837EECEE}">
      <dgm:prSet/>
      <dgm:spPr/>
      <dgm:t>
        <a:bodyPr/>
        <a:lstStyle/>
        <a:p>
          <a:endParaRPr lang="en-US"/>
        </a:p>
      </dgm:t>
    </dgm:pt>
    <dgm:pt modelId="{3E2CAA1F-C879-4840-8802-68DBCC5220D2}" type="sibTrans" cxnId="{B349604F-E5CF-4B20-9A83-A1E8837EECEE}">
      <dgm:prSet/>
      <dgm:spPr/>
      <dgm:t>
        <a:bodyPr/>
        <a:lstStyle/>
        <a:p>
          <a:endParaRPr lang="en-US"/>
        </a:p>
      </dgm:t>
    </dgm:pt>
    <dgm:pt modelId="{9248FD18-E683-4541-9EB2-A0B551436F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bg-BG" dirty="0" smtClean="0"/>
            <a:t>Екипна работа и постоянна обратна връзка</a:t>
          </a:r>
          <a:endParaRPr lang="en-US" dirty="0"/>
        </a:p>
      </dgm:t>
    </dgm:pt>
    <dgm:pt modelId="{925B2FF4-17B9-40B4-A5F2-C21ED5F20620}" type="parTrans" cxnId="{94C77C83-4E62-41E8-BBFF-3A926E5F2A54}">
      <dgm:prSet/>
      <dgm:spPr/>
      <dgm:t>
        <a:bodyPr/>
        <a:lstStyle/>
        <a:p>
          <a:endParaRPr lang="en-US"/>
        </a:p>
      </dgm:t>
    </dgm:pt>
    <dgm:pt modelId="{B62A2653-BEB5-458F-B551-D0A4AA3032AA}" type="sibTrans" cxnId="{94C77C83-4E62-41E8-BBFF-3A926E5F2A54}">
      <dgm:prSet/>
      <dgm:spPr/>
      <dgm:t>
        <a:bodyPr/>
        <a:lstStyle/>
        <a:p>
          <a:endParaRPr lang="en-US"/>
        </a:p>
      </dgm:t>
    </dgm:pt>
    <dgm:pt modelId="{5F6296FB-6623-49F0-A37B-32D5293F3A75}" type="pres">
      <dgm:prSet presAssocID="{A9082322-65D9-4EF8-8969-CB4FCD55B15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DA380E-3FD6-4279-8ECB-35FD817107C7}" type="pres">
      <dgm:prSet presAssocID="{FA9820DA-81FE-4A14-B0EA-B65CD7161892}" presName="compNode" presStyleCnt="0"/>
      <dgm:spPr/>
    </dgm:pt>
    <dgm:pt modelId="{E5D0A7DB-F870-4289-A176-74DC8634D49F}" type="pres">
      <dgm:prSet presAssocID="{FA9820DA-81FE-4A14-B0EA-B65CD7161892}" presName="iconBgRect" presStyleLbl="bgShp" presStyleIdx="0" presStyleCnt="4"/>
      <dgm:spPr/>
    </dgm:pt>
    <dgm:pt modelId="{926532A6-7EC2-48FB-9700-1C2608E2063C}" type="pres">
      <dgm:prSet presAssocID="{FA9820DA-81FE-4A14-B0EA-B65CD7161892}" presName="iconRect" presStyleLbl="node1" presStyleIdx="0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/>
    </dgm:pt>
    <dgm:pt modelId="{51E7910C-A987-431D-A3B3-AFE18209A9A2}" type="pres">
      <dgm:prSet presAssocID="{FA9820DA-81FE-4A14-B0EA-B65CD7161892}" presName="spaceRect" presStyleCnt="0"/>
      <dgm:spPr/>
    </dgm:pt>
    <dgm:pt modelId="{7ECCB9B7-3229-4D84-88AF-537C55717936}" type="pres">
      <dgm:prSet presAssocID="{FA9820DA-81FE-4A14-B0EA-B65CD7161892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1C29FDC-4EAC-421C-85D7-75F0109DA069}" type="pres">
      <dgm:prSet presAssocID="{A13B1399-C402-4A65-805A-4077B73F704E}" presName="sibTrans" presStyleCnt="0"/>
      <dgm:spPr/>
    </dgm:pt>
    <dgm:pt modelId="{BB66529C-2270-4196-BFCB-71AF1BBE96EB}" type="pres">
      <dgm:prSet presAssocID="{85CCB2CB-9E68-4B2C-9F1E-50CA45F3F484}" presName="compNode" presStyleCnt="0"/>
      <dgm:spPr/>
    </dgm:pt>
    <dgm:pt modelId="{3EC02099-2D14-4F0B-98D2-969D1935C96B}" type="pres">
      <dgm:prSet presAssocID="{85CCB2CB-9E68-4B2C-9F1E-50CA45F3F484}" presName="iconBgRect" presStyleLbl="bgShp" presStyleIdx="1" presStyleCnt="4"/>
      <dgm:spPr/>
    </dgm:pt>
    <dgm:pt modelId="{F7C6369C-F074-481D-877F-C3CA1C8B2601}" type="pres">
      <dgm:prSet presAssocID="{85CCB2CB-9E68-4B2C-9F1E-50CA45F3F484}" presName="iconRect" presStyleLbl="node1" presStyleIdx="1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0F176AB-80FF-420F-BF88-679C99DC0526}" type="pres">
      <dgm:prSet presAssocID="{85CCB2CB-9E68-4B2C-9F1E-50CA45F3F484}" presName="spaceRect" presStyleCnt="0"/>
      <dgm:spPr/>
    </dgm:pt>
    <dgm:pt modelId="{2E1E48B1-231B-40EC-9DEB-E9C62DB9B354}" type="pres">
      <dgm:prSet presAssocID="{85CCB2CB-9E68-4B2C-9F1E-50CA45F3F484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40F320B4-3B2A-499E-8008-E3C845BE8529}" type="pres">
      <dgm:prSet presAssocID="{EC882073-29DC-49E2-8D0C-CE87001FF601}" presName="sibTrans" presStyleCnt="0"/>
      <dgm:spPr/>
    </dgm:pt>
    <dgm:pt modelId="{97C7AAAE-BF17-4136-8CB3-3B81D8C1FB63}" type="pres">
      <dgm:prSet presAssocID="{438D9AB5-4B71-4E86-91B8-CCD3C6E465FA}" presName="compNode" presStyleCnt="0"/>
      <dgm:spPr/>
    </dgm:pt>
    <dgm:pt modelId="{3B05B3D7-3CA4-4213-988D-5520E9FCAC06}" type="pres">
      <dgm:prSet presAssocID="{438D9AB5-4B71-4E86-91B8-CCD3C6E465FA}" presName="iconBgRect" presStyleLbl="bgShp" presStyleIdx="2" presStyleCnt="4"/>
      <dgm:spPr/>
    </dgm:pt>
    <dgm:pt modelId="{D20C6F1C-67EB-49A3-8A6A-77FE6F4E2581}" type="pres">
      <dgm:prSet presAssocID="{438D9AB5-4B71-4E86-91B8-CCD3C6E465FA}" presName="iconRect" presStyleLbl="node1" presStyleIdx="2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960854BB-8EB9-47EF-9355-8D47AD054958}" type="pres">
      <dgm:prSet presAssocID="{438D9AB5-4B71-4E86-91B8-CCD3C6E465FA}" presName="spaceRect" presStyleCnt="0"/>
      <dgm:spPr/>
    </dgm:pt>
    <dgm:pt modelId="{74A5C5D9-1529-4C00-8952-5702A3EBEB99}" type="pres">
      <dgm:prSet presAssocID="{438D9AB5-4B71-4E86-91B8-CCD3C6E465FA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131E9F9-356B-4609-AC65-F2A855C818FA}" type="pres">
      <dgm:prSet presAssocID="{3E2CAA1F-C879-4840-8802-68DBCC5220D2}" presName="sibTrans" presStyleCnt="0"/>
      <dgm:spPr/>
    </dgm:pt>
    <dgm:pt modelId="{D8743F52-E4D6-4D15-838C-369E27080496}" type="pres">
      <dgm:prSet presAssocID="{9248FD18-E683-4541-9EB2-A0B551436FFB}" presName="compNode" presStyleCnt="0"/>
      <dgm:spPr/>
    </dgm:pt>
    <dgm:pt modelId="{CB636E1E-A841-49EB-A5DF-AEA92F5B90A0}" type="pres">
      <dgm:prSet presAssocID="{9248FD18-E683-4541-9EB2-A0B551436FFB}" presName="iconBgRect" presStyleLbl="bgShp" presStyleIdx="3" presStyleCnt="4"/>
      <dgm:spPr/>
      <dgm:t>
        <a:bodyPr/>
        <a:lstStyle/>
        <a:p>
          <a:endParaRPr lang="en-US"/>
        </a:p>
      </dgm:t>
    </dgm:pt>
    <dgm:pt modelId="{59D6C5FB-B8FF-4B57-B22D-AEAC08728B7D}" type="pres">
      <dgm:prSet presAssocID="{9248FD18-E683-4541-9EB2-A0B551436FFB}" presName="iconRect" presStyleLbl="node1" presStyleIdx="3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3EF90FF-C7D4-4034-8D59-1D749DDA41F9}" type="pres">
      <dgm:prSet presAssocID="{9248FD18-E683-4541-9EB2-A0B551436FFB}" presName="spaceRect" presStyleCnt="0"/>
      <dgm:spPr/>
    </dgm:pt>
    <dgm:pt modelId="{8E2D07B9-A1AB-4FA9-8A07-1D52AC3E3ADB}" type="pres">
      <dgm:prSet presAssocID="{9248FD18-E683-4541-9EB2-A0B551436FFB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928EBAB-04A1-4240-8E73-7CC5509250D4}" type="presOf" srcId="{438D9AB5-4B71-4E86-91B8-CCD3C6E465FA}" destId="{74A5C5D9-1529-4C00-8952-5702A3EBEB99}" srcOrd="0" destOrd="0" presId="urn:microsoft.com/office/officeart/2018/5/layout/IconCircleLabelList"/>
    <dgm:cxn modelId="{F6E91711-457D-4C3A-BAE0-58FEF02D3010}" type="presOf" srcId="{9248FD18-E683-4541-9EB2-A0B551436FFB}" destId="{8E2D07B9-A1AB-4FA9-8A07-1D52AC3E3ADB}" srcOrd="0" destOrd="0" presId="urn:microsoft.com/office/officeart/2018/5/layout/IconCircleLabelList"/>
    <dgm:cxn modelId="{30268320-F02B-4006-B150-097885F597AB}" srcId="{A9082322-65D9-4EF8-8969-CB4FCD55B155}" destId="{85CCB2CB-9E68-4B2C-9F1E-50CA45F3F484}" srcOrd="1" destOrd="0" parTransId="{89638BAF-E3B3-4EC2-AD89-CF04956EB1D9}" sibTransId="{EC882073-29DC-49E2-8D0C-CE87001FF601}"/>
    <dgm:cxn modelId="{94C77C83-4E62-41E8-BBFF-3A926E5F2A54}" srcId="{A9082322-65D9-4EF8-8969-CB4FCD55B155}" destId="{9248FD18-E683-4541-9EB2-A0B551436FFB}" srcOrd="3" destOrd="0" parTransId="{925B2FF4-17B9-40B4-A5F2-C21ED5F20620}" sibTransId="{B62A2653-BEB5-458F-B551-D0A4AA3032AA}"/>
    <dgm:cxn modelId="{23140E73-5C02-4E29-B677-CB0A65051E68}" srcId="{A9082322-65D9-4EF8-8969-CB4FCD55B155}" destId="{FA9820DA-81FE-4A14-B0EA-B65CD7161892}" srcOrd="0" destOrd="0" parTransId="{7D86F940-3817-4F21-B70B-CDF9B2814FB6}" sibTransId="{A13B1399-C402-4A65-805A-4077B73F704E}"/>
    <dgm:cxn modelId="{E3E2B8B4-605D-4B42-BDED-255AB0E3103D}" type="presOf" srcId="{FA9820DA-81FE-4A14-B0EA-B65CD7161892}" destId="{7ECCB9B7-3229-4D84-88AF-537C55717936}" srcOrd="0" destOrd="0" presId="urn:microsoft.com/office/officeart/2018/5/layout/IconCircleLabelList"/>
    <dgm:cxn modelId="{B349604F-E5CF-4B20-9A83-A1E8837EECEE}" srcId="{A9082322-65D9-4EF8-8969-CB4FCD55B155}" destId="{438D9AB5-4B71-4E86-91B8-CCD3C6E465FA}" srcOrd="2" destOrd="0" parTransId="{0990FD5A-F3E8-49F8-AD75-18A09DFB88C9}" sibTransId="{3E2CAA1F-C879-4840-8802-68DBCC5220D2}"/>
    <dgm:cxn modelId="{E52E2580-A2A2-41C6-9C23-44EBAFEADA93}" type="presOf" srcId="{A9082322-65D9-4EF8-8969-CB4FCD55B155}" destId="{5F6296FB-6623-49F0-A37B-32D5293F3A75}" srcOrd="0" destOrd="0" presId="urn:microsoft.com/office/officeart/2018/5/layout/IconCircleLabelList"/>
    <dgm:cxn modelId="{D1061536-E86B-4197-AB33-83869653E5A4}" type="presOf" srcId="{85CCB2CB-9E68-4B2C-9F1E-50CA45F3F484}" destId="{2E1E48B1-231B-40EC-9DEB-E9C62DB9B354}" srcOrd="0" destOrd="0" presId="urn:microsoft.com/office/officeart/2018/5/layout/IconCircleLabelList"/>
    <dgm:cxn modelId="{E9B6D60B-EE8A-4E87-8A00-D8E904FC0544}" type="presParOf" srcId="{5F6296FB-6623-49F0-A37B-32D5293F3A75}" destId="{85DA380E-3FD6-4279-8ECB-35FD817107C7}" srcOrd="0" destOrd="0" presId="urn:microsoft.com/office/officeart/2018/5/layout/IconCircleLabelList"/>
    <dgm:cxn modelId="{B0F87955-5377-4F1D-8921-88E53579D482}" type="presParOf" srcId="{85DA380E-3FD6-4279-8ECB-35FD817107C7}" destId="{E5D0A7DB-F870-4289-A176-74DC8634D49F}" srcOrd="0" destOrd="0" presId="urn:microsoft.com/office/officeart/2018/5/layout/IconCircleLabelList"/>
    <dgm:cxn modelId="{0CBE1D9D-C93C-40F8-B710-76BF1DE224D9}" type="presParOf" srcId="{85DA380E-3FD6-4279-8ECB-35FD817107C7}" destId="{926532A6-7EC2-48FB-9700-1C2608E2063C}" srcOrd="1" destOrd="0" presId="urn:microsoft.com/office/officeart/2018/5/layout/IconCircleLabelList"/>
    <dgm:cxn modelId="{AB1A43E9-7456-48D3-88B2-52C2ADBF9E09}" type="presParOf" srcId="{85DA380E-3FD6-4279-8ECB-35FD817107C7}" destId="{51E7910C-A987-431D-A3B3-AFE18209A9A2}" srcOrd="2" destOrd="0" presId="urn:microsoft.com/office/officeart/2018/5/layout/IconCircleLabelList"/>
    <dgm:cxn modelId="{6080838C-CA5D-4505-A6F2-92051A3DEB22}" type="presParOf" srcId="{85DA380E-3FD6-4279-8ECB-35FD817107C7}" destId="{7ECCB9B7-3229-4D84-88AF-537C55717936}" srcOrd="3" destOrd="0" presId="urn:microsoft.com/office/officeart/2018/5/layout/IconCircleLabelList"/>
    <dgm:cxn modelId="{D5262C0E-799D-47C5-8514-639D9EA5D21D}" type="presParOf" srcId="{5F6296FB-6623-49F0-A37B-32D5293F3A75}" destId="{31C29FDC-4EAC-421C-85D7-75F0109DA069}" srcOrd="1" destOrd="0" presId="urn:microsoft.com/office/officeart/2018/5/layout/IconCircleLabelList"/>
    <dgm:cxn modelId="{C1FD4445-8252-449D-A9A3-29D325ED309C}" type="presParOf" srcId="{5F6296FB-6623-49F0-A37B-32D5293F3A75}" destId="{BB66529C-2270-4196-BFCB-71AF1BBE96EB}" srcOrd="2" destOrd="0" presId="urn:microsoft.com/office/officeart/2018/5/layout/IconCircleLabelList"/>
    <dgm:cxn modelId="{930D56C5-D09E-4419-BE3B-6FA1D45629A4}" type="presParOf" srcId="{BB66529C-2270-4196-BFCB-71AF1BBE96EB}" destId="{3EC02099-2D14-4F0B-98D2-969D1935C96B}" srcOrd="0" destOrd="0" presId="urn:microsoft.com/office/officeart/2018/5/layout/IconCircleLabelList"/>
    <dgm:cxn modelId="{DB603AA3-2F43-4AD4-AAA1-B7BED4D41E3F}" type="presParOf" srcId="{BB66529C-2270-4196-BFCB-71AF1BBE96EB}" destId="{F7C6369C-F074-481D-877F-C3CA1C8B2601}" srcOrd="1" destOrd="0" presId="urn:microsoft.com/office/officeart/2018/5/layout/IconCircleLabelList"/>
    <dgm:cxn modelId="{2A54E254-47AA-4B6C-BD71-C810A1EA7384}" type="presParOf" srcId="{BB66529C-2270-4196-BFCB-71AF1BBE96EB}" destId="{90F176AB-80FF-420F-BF88-679C99DC0526}" srcOrd="2" destOrd="0" presId="urn:microsoft.com/office/officeart/2018/5/layout/IconCircleLabelList"/>
    <dgm:cxn modelId="{B6049173-0FE6-4A67-B887-897661D37E09}" type="presParOf" srcId="{BB66529C-2270-4196-BFCB-71AF1BBE96EB}" destId="{2E1E48B1-231B-40EC-9DEB-E9C62DB9B354}" srcOrd="3" destOrd="0" presId="urn:microsoft.com/office/officeart/2018/5/layout/IconCircleLabelList"/>
    <dgm:cxn modelId="{6EC21CE0-4253-4782-9808-F096FBDBBCBF}" type="presParOf" srcId="{5F6296FB-6623-49F0-A37B-32D5293F3A75}" destId="{40F320B4-3B2A-499E-8008-E3C845BE8529}" srcOrd="3" destOrd="0" presId="urn:microsoft.com/office/officeart/2018/5/layout/IconCircleLabelList"/>
    <dgm:cxn modelId="{D37BD34A-2391-4770-8C05-D0F72AB53A39}" type="presParOf" srcId="{5F6296FB-6623-49F0-A37B-32D5293F3A75}" destId="{97C7AAAE-BF17-4136-8CB3-3B81D8C1FB63}" srcOrd="4" destOrd="0" presId="urn:microsoft.com/office/officeart/2018/5/layout/IconCircleLabelList"/>
    <dgm:cxn modelId="{EE886E27-1CB2-4FF1-8543-9787040DEDED}" type="presParOf" srcId="{97C7AAAE-BF17-4136-8CB3-3B81D8C1FB63}" destId="{3B05B3D7-3CA4-4213-988D-5520E9FCAC06}" srcOrd="0" destOrd="0" presId="urn:microsoft.com/office/officeart/2018/5/layout/IconCircleLabelList"/>
    <dgm:cxn modelId="{60F77FEB-3AD3-49C2-8311-2A474D0D6DFC}" type="presParOf" srcId="{97C7AAAE-BF17-4136-8CB3-3B81D8C1FB63}" destId="{D20C6F1C-67EB-49A3-8A6A-77FE6F4E2581}" srcOrd="1" destOrd="0" presId="urn:microsoft.com/office/officeart/2018/5/layout/IconCircleLabelList"/>
    <dgm:cxn modelId="{C1FBC55B-A424-433A-806F-985D36FA72A7}" type="presParOf" srcId="{97C7AAAE-BF17-4136-8CB3-3B81D8C1FB63}" destId="{960854BB-8EB9-47EF-9355-8D47AD054958}" srcOrd="2" destOrd="0" presId="urn:microsoft.com/office/officeart/2018/5/layout/IconCircleLabelList"/>
    <dgm:cxn modelId="{003C712C-CA2F-4D75-9DB7-855B273EEFF0}" type="presParOf" srcId="{97C7AAAE-BF17-4136-8CB3-3B81D8C1FB63}" destId="{74A5C5D9-1529-4C00-8952-5702A3EBEB99}" srcOrd="3" destOrd="0" presId="urn:microsoft.com/office/officeart/2018/5/layout/IconCircleLabelList"/>
    <dgm:cxn modelId="{D0B8E083-B7F7-4651-A066-A854E585B00C}" type="presParOf" srcId="{5F6296FB-6623-49F0-A37B-32D5293F3A75}" destId="{3131E9F9-356B-4609-AC65-F2A855C818FA}" srcOrd="5" destOrd="0" presId="urn:microsoft.com/office/officeart/2018/5/layout/IconCircleLabelList"/>
    <dgm:cxn modelId="{B7BEC187-DB4F-4B76-950C-4AF72A9D1947}" type="presParOf" srcId="{5F6296FB-6623-49F0-A37B-32D5293F3A75}" destId="{D8743F52-E4D6-4D15-838C-369E27080496}" srcOrd="6" destOrd="0" presId="urn:microsoft.com/office/officeart/2018/5/layout/IconCircleLabelList"/>
    <dgm:cxn modelId="{C2309D6D-5D0A-4B67-8980-826213932939}" type="presParOf" srcId="{D8743F52-E4D6-4D15-838C-369E27080496}" destId="{CB636E1E-A841-49EB-A5DF-AEA92F5B90A0}" srcOrd="0" destOrd="0" presId="urn:microsoft.com/office/officeart/2018/5/layout/IconCircleLabelList"/>
    <dgm:cxn modelId="{47EEBE5D-C4A4-4269-A448-D826101F8933}" type="presParOf" srcId="{D8743F52-E4D6-4D15-838C-369E27080496}" destId="{59D6C5FB-B8FF-4B57-B22D-AEAC08728B7D}" srcOrd="1" destOrd="0" presId="urn:microsoft.com/office/officeart/2018/5/layout/IconCircleLabelList"/>
    <dgm:cxn modelId="{97D8B400-AD01-4CE0-A1C0-13B78623169B}" type="presParOf" srcId="{D8743F52-E4D6-4D15-838C-369E27080496}" destId="{03EF90FF-C7D4-4034-8D59-1D749DDA41F9}" srcOrd="2" destOrd="0" presId="urn:microsoft.com/office/officeart/2018/5/layout/IconCircleLabelList"/>
    <dgm:cxn modelId="{9FDD0838-7A43-4BDD-8BD8-79526EECBD9E}" type="presParOf" srcId="{D8743F52-E4D6-4D15-838C-369E27080496}" destId="{8E2D07B9-A1AB-4FA9-8A07-1D52AC3E3AD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3EF664-A10F-4F61-87E9-B962E1317A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1A69854-7566-4412-A31D-81234E9B8C14}">
      <dgm:prSet/>
      <dgm:spPr/>
      <dgm:t>
        <a:bodyPr/>
        <a:lstStyle/>
        <a:p>
          <a:pPr>
            <a:defRPr cap="all"/>
          </a:pPr>
          <a:r>
            <a:rPr lang="bg-BG" dirty="0" smtClean="0"/>
            <a:t>Повишена мотивация сред учениците</a:t>
          </a:r>
          <a:endParaRPr lang="en-US" dirty="0"/>
        </a:p>
      </dgm:t>
    </dgm:pt>
    <dgm:pt modelId="{5565F0F1-4759-426E-A93D-D788C6B1834D}" type="parTrans" cxnId="{C153F2C4-27C7-4F67-B59D-21B1E7599AB9}">
      <dgm:prSet/>
      <dgm:spPr/>
      <dgm:t>
        <a:bodyPr/>
        <a:lstStyle/>
        <a:p>
          <a:endParaRPr lang="en-US"/>
        </a:p>
      </dgm:t>
    </dgm:pt>
    <dgm:pt modelId="{A9FB573E-5C39-4200-AE81-986E8B2899A1}" type="sibTrans" cxnId="{C153F2C4-27C7-4F67-B59D-21B1E7599AB9}">
      <dgm:prSet/>
      <dgm:spPr/>
      <dgm:t>
        <a:bodyPr/>
        <a:lstStyle/>
        <a:p>
          <a:endParaRPr lang="en-US"/>
        </a:p>
      </dgm:t>
    </dgm:pt>
    <dgm:pt modelId="{70AAB01F-1F3F-4239-BB51-C836817025E3}">
      <dgm:prSet/>
      <dgm:spPr/>
      <dgm:t>
        <a:bodyPr/>
        <a:lstStyle/>
        <a:p>
          <a:pPr>
            <a:defRPr cap="all"/>
          </a:pPr>
          <a:r>
            <a:rPr lang="ru-RU" dirty="0" smtClean="0"/>
            <a:t>По-голяма гъвкавост и актуалност на програмите</a:t>
          </a:r>
          <a:endParaRPr lang="en-US" dirty="0"/>
        </a:p>
      </dgm:t>
    </dgm:pt>
    <dgm:pt modelId="{60249235-DC8C-405B-AC8E-676465FD62B7}" type="parTrans" cxnId="{66ABC6C2-DAA8-4BBD-A2CD-5B08247D6969}">
      <dgm:prSet/>
      <dgm:spPr/>
      <dgm:t>
        <a:bodyPr/>
        <a:lstStyle/>
        <a:p>
          <a:endParaRPr lang="en-US"/>
        </a:p>
      </dgm:t>
    </dgm:pt>
    <dgm:pt modelId="{A802530E-2788-4B70-8347-C4EFA40311A1}" type="sibTrans" cxnId="{66ABC6C2-DAA8-4BBD-A2CD-5B08247D6969}">
      <dgm:prSet/>
      <dgm:spPr/>
      <dgm:t>
        <a:bodyPr/>
        <a:lstStyle/>
        <a:p>
          <a:endParaRPr lang="en-US"/>
        </a:p>
      </dgm:t>
    </dgm:pt>
    <dgm:pt modelId="{F1D9C275-1E4B-40E9-8FA5-90D49683C289}">
      <dgm:prSet/>
      <dgm:spPr/>
      <dgm:t>
        <a:bodyPr/>
        <a:lstStyle/>
        <a:p>
          <a:pPr>
            <a:defRPr cap="all"/>
          </a:pPr>
          <a:r>
            <a:rPr lang="bg-BG" dirty="0" smtClean="0"/>
            <a:t>Ефективна подготовка за реалната професионална среда</a:t>
          </a:r>
          <a:endParaRPr lang="en-US" dirty="0"/>
        </a:p>
      </dgm:t>
    </dgm:pt>
    <dgm:pt modelId="{9C0328EF-E0B3-46D2-8D34-FBD9C9204230}" type="parTrans" cxnId="{0606E161-41D1-4B3A-BC3B-E677E85EFE9B}">
      <dgm:prSet/>
      <dgm:spPr/>
      <dgm:t>
        <a:bodyPr/>
        <a:lstStyle/>
        <a:p>
          <a:endParaRPr lang="en-US"/>
        </a:p>
      </dgm:t>
    </dgm:pt>
    <dgm:pt modelId="{7142EB2F-6B3E-439E-A19D-B6E391266445}" type="sibTrans" cxnId="{0606E161-41D1-4B3A-BC3B-E677E85EFE9B}">
      <dgm:prSet/>
      <dgm:spPr/>
      <dgm:t>
        <a:bodyPr/>
        <a:lstStyle/>
        <a:p>
          <a:endParaRPr lang="en-US"/>
        </a:p>
      </dgm:t>
    </dgm:pt>
    <dgm:pt modelId="{0E8A49A6-8E18-4048-9FDA-610A17570EF0}" type="pres">
      <dgm:prSet presAssocID="{AB3EF664-A10F-4F61-87E9-B962E1317A3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A68BBF8-A3E0-4E2F-B71B-1F2155ACCE48}" type="pres">
      <dgm:prSet presAssocID="{31A69854-7566-4412-A31D-81234E9B8C14}" presName="compNode" presStyleCnt="0"/>
      <dgm:spPr/>
    </dgm:pt>
    <dgm:pt modelId="{A862FEE0-5D38-41BA-91F4-C685EFB92C04}" type="pres">
      <dgm:prSet presAssocID="{31A69854-7566-4412-A31D-81234E9B8C14}" presName="iconBgRect" presStyleLbl="bgShp" presStyleIdx="0" presStyleCnt="3"/>
      <dgm:spPr/>
    </dgm:pt>
    <dgm:pt modelId="{A947F9BA-7C22-4CAB-8F98-954D0477F8C4}" type="pres">
      <dgm:prSet presAssocID="{31A69854-7566-4412-A31D-81234E9B8C14}" presName="iconRect" presStyleLbl="nod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61AF29-DEA5-4C49-B50F-0E6750CA25F3}" type="pres">
      <dgm:prSet presAssocID="{31A69854-7566-4412-A31D-81234E9B8C14}" presName="spaceRect" presStyleCnt="0"/>
      <dgm:spPr/>
    </dgm:pt>
    <dgm:pt modelId="{9AA7F644-CA99-4D1C-AC22-9A40CAD36E45}" type="pres">
      <dgm:prSet presAssocID="{31A69854-7566-4412-A31D-81234E9B8C14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46E12DA7-C0E4-4117-A680-978BC683C788}" type="pres">
      <dgm:prSet presAssocID="{A9FB573E-5C39-4200-AE81-986E8B2899A1}" presName="sibTrans" presStyleCnt="0"/>
      <dgm:spPr/>
    </dgm:pt>
    <dgm:pt modelId="{AEFD6563-DF4B-4A42-B09B-B4C19EE3FCBB}" type="pres">
      <dgm:prSet presAssocID="{70AAB01F-1F3F-4239-BB51-C836817025E3}" presName="compNode" presStyleCnt="0"/>
      <dgm:spPr/>
    </dgm:pt>
    <dgm:pt modelId="{395704C5-F946-462D-A69C-EF9F9736D2B0}" type="pres">
      <dgm:prSet presAssocID="{70AAB01F-1F3F-4239-BB51-C836817025E3}" presName="iconBgRect" presStyleLbl="bgShp" presStyleIdx="1" presStyleCnt="3"/>
      <dgm:spPr/>
    </dgm:pt>
    <dgm:pt modelId="{965E6294-B2C0-4C55-828B-784B823F312F}" type="pres">
      <dgm:prSet presAssocID="{70AAB01F-1F3F-4239-BB51-C836817025E3}" presName="iconRect" presStyleLbl="node1" presStyleIdx="1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rane"/>
        </a:ext>
      </dgm:extLst>
    </dgm:pt>
    <dgm:pt modelId="{2FDAA7AC-DEBA-4700-99D0-1A78999FE69D}" type="pres">
      <dgm:prSet presAssocID="{70AAB01F-1F3F-4239-BB51-C836817025E3}" presName="spaceRect" presStyleCnt="0"/>
      <dgm:spPr/>
    </dgm:pt>
    <dgm:pt modelId="{133F658D-38C7-4601-A0BE-1335EF200B1E}" type="pres">
      <dgm:prSet presAssocID="{70AAB01F-1F3F-4239-BB51-C836817025E3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B666681-D9D5-4A8A-82D9-4D0309BC6E10}" type="pres">
      <dgm:prSet presAssocID="{A802530E-2788-4B70-8347-C4EFA40311A1}" presName="sibTrans" presStyleCnt="0"/>
      <dgm:spPr/>
    </dgm:pt>
    <dgm:pt modelId="{7AAC013A-0AE3-49C5-B253-1E832DDAC4F3}" type="pres">
      <dgm:prSet presAssocID="{F1D9C275-1E4B-40E9-8FA5-90D49683C289}" presName="compNode" presStyleCnt="0"/>
      <dgm:spPr/>
    </dgm:pt>
    <dgm:pt modelId="{E11D9D2D-E1EF-4F8B-B956-5276604AD9D9}" type="pres">
      <dgm:prSet presAssocID="{F1D9C275-1E4B-40E9-8FA5-90D49683C289}" presName="iconBgRect" presStyleLbl="bgShp" presStyleIdx="2" presStyleCnt="3"/>
      <dgm:spPr/>
    </dgm:pt>
    <dgm:pt modelId="{58FA072A-DFB4-4C7E-8DD2-3ED530ACB350}" type="pres">
      <dgm:prSet presAssocID="{F1D9C275-1E4B-40E9-8FA5-90D49683C289}" presName="iconRect" presStyleLbl="node1" presStyleIdx="2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ity"/>
        </a:ext>
      </dgm:extLst>
    </dgm:pt>
    <dgm:pt modelId="{289381BC-2E4A-4E2E-8DCB-A1DCC09AF3C1}" type="pres">
      <dgm:prSet presAssocID="{F1D9C275-1E4B-40E9-8FA5-90D49683C289}" presName="spaceRect" presStyleCnt="0"/>
      <dgm:spPr/>
    </dgm:pt>
    <dgm:pt modelId="{4E92316D-3FE7-4566-B3F0-19B75154652B}" type="pres">
      <dgm:prSet presAssocID="{F1D9C275-1E4B-40E9-8FA5-90D49683C289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BAD8AA-085B-4C78-A9C3-EBCFE611E9B4}" type="presOf" srcId="{F1D9C275-1E4B-40E9-8FA5-90D49683C289}" destId="{4E92316D-3FE7-4566-B3F0-19B75154652B}" srcOrd="0" destOrd="0" presId="urn:microsoft.com/office/officeart/2018/5/layout/IconCircleLabelList"/>
    <dgm:cxn modelId="{66ABC6C2-DAA8-4BBD-A2CD-5B08247D6969}" srcId="{AB3EF664-A10F-4F61-87E9-B962E1317A37}" destId="{70AAB01F-1F3F-4239-BB51-C836817025E3}" srcOrd="1" destOrd="0" parTransId="{60249235-DC8C-405B-AC8E-676465FD62B7}" sibTransId="{A802530E-2788-4B70-8347-C4EFA40311A1}"/>
    <dgm:cxn modelId="{4E249BB5-DA6B-43ED-A8A0-A4158A6FAEE7}" type="presOf" srcId="{AB3EF664-A10F-4F61-87E9-B962E1317A37}" destId="{0E8A49A6-8E18-4048-9FDA-610A17570EF0}" srcOrd="0" destOrd="0" presId="urn:microsoft.com/office/officeart/2018/5/layout/IconCircleLabelList"/>
    <dgm:cxn modelId="{E3CAD069-CACA-43E3-87EF-3695A8153986}" type="presOf" srcId="{31A69854-7566-4412-A31D-81234E9B8C14}" destId="{9AA7F644-CA99-4D1C-AC22-9A40CAD36E45}" srcOrd="0" destOrd="0" presId="urn:microsoft.com/office/officeart/2018/5/layout/IconCircleLabelList"/>
    <dgm:cxn modelId="{C0AE264B-7831-4384-AC47-897D1FA71958}" type="presOf" srcId="{70AAB01F-1F3F-4239-BB51-C836817025E3}" destId="{133F658D-38C7-4601-A0BE-1335EF200B1E}" srcOrd="0" destOrd="0" presId="urn:microsoft.com/office/officeart/2018/5/layout/IconCircleLabelList"/>
    <dgm:cxn modelId="{C153F2C4-27C7-4F67-B59D-21B1E7599AB9}" srcId="{AB3EF664-A10F-4F61-87E9-B962E1317A37}" destId="{31A69854-7566-4412-A31D-81234E9B8C14}" srcOrd="0" destOrd="0" parTransId="{5565F0F1-4759-426E-A93D-D788C6B1834D}" sibTransId="{A9FB573E-5C39-4200-AE81-986E8B2899A1}"/>
    <dgm:cxn modelId="{0606E161-41D1-4B3A-BC3B-E677E85EFE9B}" srcId="{AB3EF664-A10F-4F61-87E9-B962E1317A37}" destId="{F1D9C275-1E4B-40E9-8FA5-90D49683C289}" srcOrd="2" destOrd="0" parTransId="{9C0328EF-E0B3-46D2-8D34-FBD9C9204230}" sibTransId="{7142EB2F-6B3E-439E-A19D-B6E391266445}"/>
    <dgm:cxn modelId="{B0A6F699-D400-48B7-8C7A-C3EEE22297DD}" type="presParOf" srcId="{0E8A49A6-8E18-4048-9FDA-610A17570EF0}" destId="{9A68BBF8-A3E0-4E2F-B71B-1F2155ACCE48}" srcOrd="0" destOrd="0" presId="urn:microsoft.com/office/officeart/2018/5/layout/IconCircleLabelList"/>
    <dgm:cxn modelId="{FEB4316E-5DD1-4796-9118-9A696E25DDEA}" type="presParOf" srcId="{9A68BBF8-A3E0-4E2F-B71B-1F2155ACCE48}" destId="{A862FEE0-5D38-41BA-91F4-C685EFB92C04}" srcOrd="0" destOrd="0" presId="urn:microsoft.com/office/officeart/2018/5/layout/IconCircleLabelList"/>
    <dgm:cxn modelId="{CA576736-5C63-4A97-A2DD-504DCE88DE80}" type="presParOf" srcId="{9A68BBF8-A3E0-4E2F-B71B-1F2155ACCE48}" destId="{A947F9BA-7C22-4CAB-8F98-954D0477F8C4}" srcOrd="1" destOrd="0" presId="urn:microsoft.com/office/officeart/2018/5/layout/IconCircleLabelList"/>
    <dgm:cxn modelId="{FB041FBD-A465-4993-A8CE-6E802FC21254}" type="presParOf" srcId="{9A68BBF8-A3E0-4E2F-B71B-1F2155ACCE48}" destId="{CC61AF29-DEA5-4C49-B50F-0E6750CA25F3}" srcOrd="2" destOrd="0" presId="urn:microsoft.com/office/officeart/2018/5/layout/IconCircleLabelList"/>
    <dgm:cxn modelId="{CACF3CE0-0F22-408C-BF0F-F426B5770E13}" type="presParOf" srcId="{9A68BBF8-A3E0-4E2F-B71B-1F2155ACCE48}" destId="{9AA7F644-CA99-4D1C-AC22-9A40CAD36E45}" srcOrd="3" destOrd="0" presId="urn:microsoft.com/office/officeart/2018/5/layout/IconCircleLabelList"/>
    <dgm:cxn modelId="{6EC493D3-B41B-4873-BEE5-A6C2847DED98}" type="presParOf" srcId="{0E8A49A6-8E18-4048-9FDA-610A17570EF0}" destId="{46E12DA7-C0E4-4117-A680-978BC683C788}" srcOrd="1" destOrd="0" presId="urn:microsoft.com/office/officeart/2018/5/layout/IconCircleLabelList"/>
    <dgm:cxn modelId="{2BD1452C-8008-416A-AF8A-3F33A03CB5F0}" type="presParOf" srcId="{0E8A49A6-8E18-4048-9FDA-610A17570EF0}" destId="{AEFD6563-DF4B-4A42-B09B-B4C19EE3FCBB}" srcOrd="2" destOrd="0" presId="urn:microsoft.com/office/officeart/2018/5/layout/IconCircleLabelList"/>
    <dgm:cxn modelId="{C00618F3-5CE5-4E61-BC2E-0DBDF35445D3}" type="presParOf" srcId="{AEFD6563-DF4B-4A42-B09B-B4C19EE3FCBB}" destId="{395704C5-F946-462D-A69C-EF9F9736D2B0}" srcOrd="0" destOrd="0" presId="urn:microsoft.com/office/officeart/2018/5/layout/IconCircleLabelList"/>
    <dgm:cxn modelId="{2866C1D9-1CDD-4186-AD88-EFD450F36E1C}" type="presParOf" srcId="{AEFD6563-DF4B-4A42-B09B-B4C19EE3FCBB}" destId="{965E6294-B2C0-4C55-828B-784B823F312F}" srcOrd="1" destOrd="0" presId="urn:microsoft.com/office/officeart/2018/5/layout/IconCircleLabelList"/>
    <dgm:cxn modelId="{CFDB2128-8828-4619-95F1-ADAC12395191}" type="presParOf" srcId="{AEFD6563-DF4B-4A42-B09B-B4C19EE3FCBB}" destId="{2FDAA7AC-DEBA-4700-99D0-1A78999FE69D}" srcOrd="2" destOrd="0" presId="urn:microsoft.com/office/officeart/2018/5/layout/IconCircleLabelList"/>
    <dgm:cxn modelId="{7035CD62-4FC4-4035-B99F-BAD5D736F115}" type="presParOf" srcId="{AEFD6563-DF4B-4A42-B09B-B4C19EE3FCBB}" destId="{133F658D-38C7-4601-A0BE-1335EF200B1E}" srcOrd="3" destOrd="0" presId="urn:microsoft.com/office/officeart/2018/5/layout/IconCircleLabelList"/>
    <dgm:cxn modelId="{559F9AFD-7B36-4EFE-B99A-F36D04D52469}" type="presParOf" srcId="{0E8A49A6-8E18-4048-9FDA-610A17570EF0}" destId="{3B666681-D9D5-4A8A-82D9-4D0309BC6E10}" srcOrd="3" destOrd="0" presId="urn:microsoft.com/office/officeart/2018/5/layout/IconCircleLabelList"/>
    <dgm:cxn modelId="{768E7001-0ED8-48BF-92F4-01F2B6779139}" type="presParOf" srcId="{0E8A49A6-8E18-4048-9FDA-610A17570EF0}" destId="{7AAC013A-0AE3-49C5-B253-1E832DDAC4F3}" srcOrd="4" destOrd="0" presId="urn:microsoft.com/office/officeart/2018/5/layout/IconCircleLabelList"/>
    <dgm:cxn modelId="{383A1B03-FB33-49FC-8C58-2BE863FA7C05}" type="presParOf" srcId="{7AAC013A-0AE3-49C5-B253-1E832DDAC4F3}" destId="{E11D9D2D-E1EF-4F8B-B956-5276604AD9D9}" srcOrd="0" destOrd="0" presId="urn:microsoft.com/office/officeart/2018/5/layout/IconCircleLabelList"/>
    <dgm:cxn modelId="{6FE9BF58-7A75-4B3B-938C-56B37D2827BC}" type="presParOf" srcId="{7AAC013A-0AE3-49C5-B253-1E832DDAC4F3}" destId="{58FA072A-DFB4-4C7E-8DD2-3ED530ACB350}" srcOrd="1" destOrd="0" presId="urn:microsoft.com/office/officeart/2018/5/layout/IconCircleLabelList"/>
    <dgm:cxn modelId="{0A289092-85B0-4037-A5BF-54E4FC6E6984}" type="presParOf" srcId="{7AAC013A-0AE3-49C5-B253-1E832DDAC4F3}" destId="{289381BC-2E4A-4E2E-8DCB-A1DCC09AF3C1}" srcOrd="2" destOrd="0" presId="urn:microsoft.com/office/officeart/2018/5/layout/IconCircleLabelList"/>
    <dgm:cxn modelId="{A1F0FFDC-21AB-4D75-B64E-1FFEF7914036}" type="presParOf" srcId="{7AAC013A-0AE3-49C5-B253-1E832DDAC4F3}" destId="{4E92316D-3FE7-4566-B3F0-19B75154652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D0A7DB-F870-4289-A176-74DC8634D49F}">
      <dsp:nvSpPr>
        <dsp:cNvPr id="0" name=""/>
        <dsp:cNvSpPr/>
      </dsp:nvSpPr>
      <dsp:spPr>
        <a:xfrm>
          <a:off x="774129" y="709809"/>
          <a:ext cx="1255425" cy="1255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532A6-7EC2-48FB-9700-1C2608E2063C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CB9B7-3229-4D84-88AF-537C55717936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bg-BG" sz="1500" kern="1200" dirty="0" smtClean="0"/>
            <a:t>Съвременен и адаптивен подход</a:t>
          </a:r>
          <a:endParaRPr lang="en-US" sz="1500" kern="1200" dirty="0"/>
        </a:p>
      </dsp:txBody>
      <dsp:txXfrm>
        <a:off x="372805" y="2356270"/>
        <a:ext cx="2058075" cy="720000"/>
      </dsp:txXfrm>
    </dsp:sp>
    <dsp:sp modelId="{3EC02099-2D14-4F0B-98D2-969D1935C96B}">
      <dsp:nvSpPr>
        <dsp:cNvPr id="0" name=""/>
        <dsp:cNvSpPr/>
      </dsp:nvSpPr>
      <dsp:spPr>
        <a:xfrm>
          <a:off x="3192368" y="709809"/>
          <a:ext cx="1255425" cy="12554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6369C-F074-481D-877F-C3CA1C8B2601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E48B1-231B-40EC-9DEB-E9C62DB9B354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ru-RU" sz="1500" kern="1200" dirty="0" smtClean="0"/>
            <a:t>Ясна приоритизация на учебното съдържание</a:t>
          </a:r>
          <a:endParaRPr lang="en-US" sz="1500" kern="1200" dirty="0"/>
        </a:p>
      </dsp:txBody>
      <dsp:txXfrm>
        <a:off x="2791043" y="2356270"/>
        <a:ext cx="2058075" cy="720000"/>
      </dsp:txXfrm>
    </dsp:sp>
    <dsp:sp modelId="{3B05B3D7-3CA4-4213-988D-5520E9FCAC06}">
      <dsp:nvSpPr>
        <dsp:cNvPr id="0" name=""/>
        <dsp:cNvSpPr/>
      </dsp:nvSpPr>
      <dsp:spPr>
        <a:xfrm>
          <a:off x="5610606" y="709809"/>
          <a:ext cx="1255425" cy="12554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C6F1C-67EB-49A3-8A6A-77FE6F4E2581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A5C5D9-1529-4C00-8952-5702A3EBEB99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bg-BG" sz="1500" kern="1200" dirty="0" smtClean="0"/>
            <a:t>Включване на практически казуси и технологии</a:t>
          </a:r>
          <a:endParaRPr lang="en-US" sz="1500" kern="1200" dirty="0"/>
        </a:p>
      </dsp:txBody>
      <dsp:txXfrm>
        <a:off x="5209281" y="2356270"/>
        <a:ext cx="2058075" cy="720000"/>
      </dsp:txXfrm>
    </dsp:sp>
    <dsp:sp modelId="{CB636E1E-A841-49EB-A5DF-AEA92F5B90A0}">
      <dsp:nvSpPr>
        <dsp:cNvPr id="0" name=""/>
        <dsp:cNvSpPr/>
      </dsp:nvSpPr>
      <dsp:spPr>
        <a:xfrm>
          <a:off x="8028844" y="709809"/>
          <a:ext cx="1255425" cy="12554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6C5FB-B8FF-4B57-B22D-AEAC08728B7D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D07B9-A1AB-4FA9-8A07-1D52AC3E3ADB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bg-BG" sz="1500" kern="1200" dirty="0" smtClean="0"/>
            <a:t>Екипна работа и постоянна обратна връзка</a:t>
          </a:r>
          <a:endParaRPr lang="en-US" sz="1500" kern="1200" dirty="0"/>
        </a:p>
      </dsp:txBody>
      <dsp:txXfrm>
        <a:off x="7627519" y="2356270"/>
        <a:ext cx="20580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2FEE0-5D38-41BA-91F4-C685EFB92C04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47F9BA-7C22-4CAB-8F98-954D0477F8C4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7F644-CA99-4D1C-AC22-9A40CAD36E45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bg-BG" sz="1700" kern="1200" dirty="0" smtClean="0"/>
            <a:t>Повишена мотивация сред учениците</a:t>
          </a:r>
          <a:endParaRPr lang="en-US" sz="1700" kern="1200" dirty="0"/>
        </a:p>
      </dsp:txBody>
      <dsp:txXfrm>
        <a:off x="35606" y="2725540"/>
        <a:ext cx="2981250" cy="720000"/>
      </dsp:txXfrm>
    </dsp:sp>
    <dsp:sp modelId="{395704C5-F946-462D-A69C-EF9F9736D2B0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E6294-B2C0-4C55-828B-784B823F312F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F658D-38C7-4601-A0BE-1335EF200B1E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ru-RU" sz="1700" kern="1200" dirty="0" smtClean="0"/>
            <a:t>По-голяма гъвкавост и актуалност на програмите</a:t>
          </a:r>
          <a:endParaRPr lang="en-US" sz="1700" kern="1200" dirty="0"/>
        </a:p>
      </dsp:txBody>
      <dsp:txXfrm>
        <a:off x="3538574" y="2725540"/>
        <a:ext cx="2981250" cy="720000"/>
      </dsp:txXfrm>
    </dsp:sp>
    <dsp:sp modelId="{E11D9D2D-E1EF-4F8B-B956-5276604AD9D9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A072A-DFB4-4C7E-8DD2-3ED530ACB350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2316D-3FE7-4566-B3F0-19B75154652B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bg-BG" sz="1700" kern="1200" dirty="0" smtClean="0"/>
            <a:t>Ефективна подготовка за реалната професионална среда</a:t>
          </a:r>
          <a:endParaRPr lang="en-US" sz="1700" kern="1200" dirty="0"/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Здравейте колеги. Днес ще ви представя проекта ИРИДА – модел за иновация и адаптивност в преподаването на „Приложно програмиране“. Ще споделя с вас концепцията, стъпките и ползите, както и как можем заедно да го реализираме в нашето училище.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е да направим учебните програми по-приложими и адаптирани към особеностите на нашето училище. Искам да внедрим нови подходи, които улесняват както нас, преподавателите, така и учениците, и да стимулираме повече практическа работа и мотивация.</a:t>
            </a:r>
          </a:p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Непосредствената цел е да се изработят детайлизирани училищни учебни програми. За да се гарантира максимална ефективност процесът на адаптиране се основава на интеграция на доказани педагогически модели и принципи.</a:t>
            </a:r>
          </a:p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Акцентът върху „училищни“</a:t>
            </a:r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подчертава нуждата от адаптиране на учебните програми според конкретните условия – профила и възможностите на учениците, квалификацията на преподавателите, спецификата на материалната база и традициите на училището. Това създава собствен облик и педагогическа „школа“, което позволява постигането на високи резултати в реален контекст.</a:t>
            </a:r>
          </a:p>
          <a:p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Детайлизирането 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означава разбиване на всяка учебна програма на седмичен и дневен обхват, като за всяко занятие се изготвя конкретен план с теоретични, практически и оценъчни компоненти. Съществен елемент са разнообразните дидактически материали – теоретични текстове, примерни решения, задачи за групова и индивидуална работа, тестове и инструменти за проверка.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5643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Проектът обединява четири доказани модели. </a:t>
            </a:r>
          </a:p>
          <a:p>
            <a:r>
              <a:rPr lang="ru-RU" dirty="0" smtClean="0"/>
              <a:t>5PPPS структурира уроците по фази. </a:t>
            </a:r>
          </a:p>
          <a:p>
            <a:r>
              <a:rPr lang="ru-RU" dirty="0" smtClean="0"/>
              <a:t>GRR ни помага да прехвърляме отговорността за ученето към учениците. </a:t>
            </a:r>
          </a:p>
          <a:p>
            <a:r>
              <a:rPr lang="ru-RU" dirty="0" smtClean="0"/>
              <a:t>FLOW гарантира адаптивност според възможностите на класа. </a:t>
            </a:r>
          </a:p>
          <a:p>
            <a:r>
              <a:rPr lang="ru-RU" dirty="0" smtClean="0"/>
              <a:t>А с метода MSCSW приоритизираме кое е задължително и кое пожелателно в материала. </a:t>
            </a:r>
            <a:r>
              <a:rPr lang="bg-BG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Задължително, Важно, Пожелателно, Отпадащо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Тук виждате накратко стъпките по които действаме. Първо анализираме сегашните си програми, после разделяме на теория и практика, разпределяме ги по седмици, формулираме конкретни учебни цели, прилагаме MSCW анализ, разработваме програмите по уроци и редовно си даваме обратна връзка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435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 този подход учебният процес става по-модерен и ефективен. Имаме гъвкавост и прозрачност, вмъкваме реални задачи и технологии, насърчаваме екипната работа между нас, а учениците получават по-стойностно и мотивиращо обучение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3601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Очакваме повече активност и интерес от страна на учениците, програми по-актуални към реалността и повишена подготовка за реалния свят на избраната професия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4730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Този модел предполага активно участие от всички нас – обменяме опит, помагаме си, търсим нови идеи и усъвършенстваме обучението заедно. Всеки може да допринесе с добри практики или предложения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0379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ви за вниманието! Ще се радвам да чуя вашите въпроси, предложения и мнения. Всички идеи са добре дошли!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709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roup of people talking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3119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545" y="614149"/>
            <a:ext cx="4526280" cy="943015"/>
          </a:xfrm>
        </p:spPr>
        <p:txBody>
          <a:bodyPr/>
          <a:lstStyle/>
          <a:p>
            <a:r>
              <a:rPr lang="bg-BG" dirty="0" smtClean="0"/>
              <a:t>ИРИДА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3704" t="50" r="20718" b="-202"/>
          <a:stretch/>
        </p:blipFill>
        <p:spPr>
          <a:xfrm>
            <a:off x="-1194369" y="0"/>
            <a:ext cx="7506269" cy="685800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32171" y="1802824"/>
            <a:ext cx="4526280" cy="20594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5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/>
            <a:r>
              <a:rPr lang="ru-RU" sz="3600" dirty="0">
                <a:solidFill>
                  <a:schemeClr val="tx1"/>
                </a:solidFill>
              </a:rPr>
              <a:t>Разрбоване на детализирани </a:t>
            </a:r>
            <a:endParaRPr lang="en-US" sz="3600" dirty="0" smtClean="0">
              <a:solidFill>
                <a:schemeClr val="tx1"/>
              </a:solidFill>
            </a:endParaRPr>
          </a:p>
          <a:p>
            <a:pPr algn="r"/>
            <a:r>
              <a:rPr lang="ru-RU" sz="3600" dirty="0" smtClean="0">
                <a:solidFill>
                  <a:schemeClr val="tx1"/>
                </a:solidFill>
              </a:rPr>
              <a:t>училищни </a:t>
            </a:r>
            <a:endParaRPr lang="en-US" sz="3600" dirty="0" smtClean="0">
              <a:solidFill>
                <a:schemeClr val="tx1"/>
              </a:solidFill>
            </a:endParaRPr>
          </a:p>
          <a:p>
            <a:pPr algn="r"/>
            <a:r>
              <a:rPr lang="ru-RU" sz="3600" dirty="0" smtClean="0">
                <a:solidFill>
                  <a:schemeClr val="tx1"/>
                </a:solidFill>
              </a:rPr>
              <a:t>учебни </a:t>
            </a:r>
            <a:r>
              <a:rPr lang="ru-RU" sz="3600" dirty="0">
                <a:solidFill>
                  <a:schemeClr val="tx1"/>
                </a:solidFill>
              </a:rPr>
              <a:t>програми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890" y="5718412"/>
            <a:ext cx="2182140" cy="8047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74447"/>
              </p:ext>
            </p:extLst>
          </p:nvPr>
        </p:nvGraphicFramePr>
        <p:xfrm>
          <a:off x="6402657" y="4958982"/>
          <a:ext cx="5789343" cy="511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9343">
                  <a:extLst>
                    <a:ext uri="{9D8B030D-6E8A-4147-A177-3AD203B41FA5}">
                      <a16:colId xmlns:a16="http://schemas.microsoft.com/office/drawing/2014/main" val="25677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cap="all" spc="100" dirty="0">
                          <a:effectLst/>
                        </a:rPr>
                        <a:t>Банско 2025</a:t>
                      </a:r>
                      <a:endParaRPr lang="bg-BG" sz="14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</a:rPr>
                        <a:t>инж</a:t>
                      </a:r>
                      <a:r>
                        <a:rPr lang="bg-BG" sz="1400" dirty="0">
                          <a:effectLst/>
                        </a:rPr>
                        <a:t>. Георги Бориков</a:t>
                      </a:r>
                      <a:endParaRPr lang="bg-BG" sz="1400" b="1" dirty="0">
                        <a:solidFill>
                          <a:srgbClr val="082A75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728547444"/>
                  </a:ext>
                </a:extLst>
              </a:tr>
            </a:tbl>
          </a:graphicData>
        </a:graphic>
      </p:graphicFrame>
      <p:cxnSp>
        <p:nvCxnSpPr>
          <p:cNvPr id="9" name="Право съединение 6" descr="Разделител на текст"/>
          <p:cNvCxnSpPr/>
          <p:nvPr/>
        </p:nvCxnSpPr>
        <p:spPr>
          <a:xfrm>
            <a:off x="6469080" y="5229503"/>
            <a:ext cx="1637690" cy="883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46B020-2B12-4533-AB98-A078339B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50" y="1441587"/>
            <a:ext cx="3521122" cy="9025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>
                <a:solidFill>
                  <a:schemeClr val="tx1"/>
                </a:solidFill>
              </a:rPr>
              <a:t>Цели на проекта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8346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D22D53-586E-4F80-B549-03B4A942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50" y="2790855"/>
            <a:ext cx="3521122" cy="3311766"/>
          </a:xfrm>
        </p:spPr>
        <p:txBody>
          <a:bodyPr vert="horz" lIns="0" tIns="45720" rIns="0" bIns="45720" rtlCol="0">
            <a:normAutofit fontScale="85000" lnSpcReduction="10000"/>
          </a:bodyPr>
          <a:lstStyle/>
          <a:p>
            <a:r>
              <a:rPr lang="ru-RU" dirty="0" smtClean="0">
                <a:latin typeface="+mj-lt"/>
              </a:rPr>
              <a:t>Адаптиране </a:t>
            </a:r>
            <a:r>
              <a:rPr lang="ru-RU" dirty="0">
                <a:latin typeface="+mj-lt"/>
              </a:rPr>
              <a:t>на учебните програми към спецификата на нашето училище</a:t>
            </a:r>
          </a:p>
          <a:p>
            <a:r>
              <a:rPr lang="ru-RU" dirty="0" smtClean="0">
                <a:latin typeface="+mj-lt"/>
              </a:rPr>
              <a:t>Въвеждане </a:t>
            </a:r>
            <a:r>
              <a:rPr lang="ru-RU" dirty="0">
                <a:latin typeface="+mj-lt"/>
              </a:rPr>
              <a:t>на иновационни подходи и реализация на работа по алгоритъм</a:t>
            </a:r>
          </a:p>
          <a:p>
            <a:r>
              <a:rPr lang="ru-RU" dirty="0" smtClean="0">
                <a:latin typeface="+mj-lt"/>
              </a:rPr>
              <a:t>Фокус </a:t>
            </a:r>
            <a:r>
              <a:rPr lang="ru-RU" dirty="0">
                <a:latin typeface="+mj-lt"/>
              </a:rPr>
              <a:t>върху индивидуалните потребности и мотивиращо обучение</a:t>
            </a:r>
          </a:p>
        </p:txBody>
      </p:sp>
      <p:pic>
        <p:nvPicPr>
          <p:cNvPr id="9" name="Picture Placeholder 8" descr="A picture containing object that represents mission, goal&#10;">
            <a:extLst>
              <a:ext uri="{FF2B5EF4-FFF2-40B4-BE49-F238E27FC236}">
                <a16:creationId xmlns:a16="http://schemas.microsoft.com/office/drawing/2014/main" id="{8CFBDF6E-78AD-4FBA-9B07-1F98608A8B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0701" r="2" b="2295"/>
          <a:stretch/>
        </p:blipFill>
        <p:spPr>
          <a:xfrm>
            <a:off x="4080728" y="10"/>
            <a:ext cx="811127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8" y="1963500"/>
            <a:ext cx="3697009" cy="2093975"/>
          </a:xfrm>
        </p:spPr>
        <p:txBody>
          <a:bodyPr/>
          <a:lstStyle/>
          <a:p>
            <a:r>
              <a:rPr lang="bg-BG" dirty="0"/>
              <a:t>Методологии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293" y="518615"/>
            <a:ext cx="5367532" cy="593457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BOPPPS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bg-BG" sz="1800" b="1" dirty="0"/>
              <a:t>(Bridge-In, Outcome, Pre-Assessment, Participatory Learning, Post-Assessment, Summary) е структуриран метод за планиране на учебни моменти, който позволява активното включване на учениците още от началото на урока.</a:t>
            </a:r>
            <a:endParaRPr lang="en-US" sz="1800" dirty="0" smtClean="0"/>
          </a:p>
          <a:p>
            <a:pPr algn="just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GRR</a:t>
            </a:r>
            <a:r>
              <a:rPr lang="en-US" dirty="0" smtClean="0"/>
              <a:t> - </a:t>
            </a:r>
            <a:r>
              <a:rPr lang="bg-BG" sz="2000" b="1" dirty="0"/>
              <a:t>(Gradual Release of Responsibility) представлява насърчаване на развиването на уменията на учениците чрез постепенното намаляване на ролята на учителя и увеличаване на тяхната независимост.</a:t>
            </a:r>
            <a:endParaRPr lang="en-US" sz="2000" dirty="0" smtClean="0"/>
          </a:p>
          <a:p>
            <a:pPr algn="just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</a:t>
            </a:r>
            <a:r>
              <a:rPr lang="en-US" dirty="0" smtClean="0"/>
              <a:t> - </a:t>
            </a:r>
            <a:r>
              <a:rPr lang="bg-BG" sz="2000" b="1" dirty="0"/>
              <a:t>Оптимално адаптиране в класната </a:t>
            </a:r>
            <a:r>
              <a:rPr lang="bg-BG" sz="2000" b="1" dirty="0" smtClean="0"/>
              <a:t>стая</a:t>
            </a:r>
            <a:r>
              <a:rPr lang="en-US" sz="2000" b="1" dirty="0" smtClean="0"/>
              <a:t>. </a:t>
            </a:r>
            <a:r>
              <a:rPr lang="bg-BG" sz="2000" b="1" dirty="0" smtClean="0"/>
              <a:t>Принципът </a:t>
            </a:r>
            <a:r>
              <a:rPr lang="bg-BG" sz="2000" b="1" dirty="0"/>
              <a:t>FLOW е насочен към създаване на среда, която „тече“ без усилия, като се интегрират следните критерии</a:t>
            </a:r>
            <a:endParaRPr lang="en-US" sz="2000" dirty="0" smtClean="0"/>
          </a:p>
          <a:p>
            <a:pPr algn="just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MSCW</a:t>
            </a:r>
            <a:r>
              <a:rPr lang="en-US" dirty="0" smtClean="0"/>
              <a:t> </a:t>
            </a:r>
            <a:r>
              <a:rPr lang="en-US" sz="2200" b="1" dirty="0" smtClean="0"/>
              <a:t>- </a:t>
            </a:r>
            <a:r>
              <a:rPr lang="bg-BG" sz="2200" b="1" dirty="0"/>
              <a:t>(или MoSCoW) анализ, от английските думи: Must, Should, Could, Won’t </a:t>
            </a:r>
            <a:r>
              <a:rPr lang="bg-BG" sz="2200" b="1" dirty="0" smtClean="0"/>
              <a:t>e </a:t>
            </a:r>
            <a:r>
              <a:rPr lang="bg-BG" sz="2200" b="1" dirty="0"/>
              <a:t>метод за </a:t>
            </a:r>
            <a:r>
              <a:rPr lang="bg-BG" sz="2200" b="1" dirty="0" smtClean="0"/>
              <a:t>приоритизация</a:t>
            </a:r>
            <a:r>
              <a:rPr lang="en-US" sz="2200" b="1" dirty="0" smtClean="0"/>
              <a:t>, </a:t>
            </a:r>
            <a:r>
              <a:rPr lang="bg-BG" sz="2200" b="1" dirty="0" smtClean="0"/>
              <a:t>приложим </a:t>
            </a:r>
            <a:r>
              <a:rPr lang="bg-BG" sz="2200" b="1" dirty="0"/>
              <a:t>към учебни програми, учебно съдържание и при планиране на учебни теми.</a:t>
            </a:r>
            <a:endParaRPr lang="en-US" sz="2200" b="1" dirty="0"/>
          </a:p>
        </p:txBody>
      </p:sp>
      <p:grpSp>
        <p:nvGrpSpPr>
          <p:cNvPr id="10" name="Group 9" descr="Info">
            <a:extLst>
              <a:ext uri="{FF2B5EF4-FFF2-40B4-BE49-F238E27FC236}">
                <a16:creationId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97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Алгоритъм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1015" y="723900"/>
            <a:ext cx="5186597" cy="4642517"/>
          </a:xfrm>
        </p:spPr>
        <p:txBody>
          <a:bodyPr numCol="1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Анализ на рамковия учебен план (рамкова програма)</a:t>
            </a:r>
            <a:endParaRPr lang="en-US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/>
              <a:t>Групиране </a:t>
            </a:r>
            <a:r>
              <a:rPr lang="ru-RU" b="1" dirty="0"/>
              <a:t>по </a:t>
            </a:r>
            <a:r>
              <a:rPr lang="ru-RU" b="1" dirty="0" smtClean="0"/>
              <a:t>теория/практика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Формулиране на цели и задачи по </a:t>
            </a:r>
            <a:r>
              <a:rPr lang="bg-BG" b="1" dirty="0" smtClean="0"/>
              <a:t>предмети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Формулиране на цели и задачи по </a:t>
            </a:r>
            <a:r>
              <a:rPr lang="bg-BG" b="1" dirty="0" smtClean="0"/>
              <a:t>предмети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MoSCoW анализ на </a:t>
            </a:r>
            <a:r>
              <a:rPr lang="bg-BG" b="1" dirty="0" smtClean="0"/>
              <a:t>съдържание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Разбиване на програмата на занятия (уроци</a:t>
            </a:r>
            <a:r>
              <a:rPr lang="bg-BG" b="1" dirty="0" smtClean="0"/>
              <a:t>)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/>
              <a:t>Синхронизиране на теория и </a:t>
            </a:r>
            <a:r>
              <a:rPr lang="bg-BG" b="1" dirty="0" smtClean="0"/>
              <a:t>практика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 smtClean="0"/>
              <a:t>Разработване </a:t>
            </a:r>
            <a:r>
              <a:rPr lang="bg-BG" b="1" dirty="0"/>
              <a:t>на </a:t>
            </a:r>
            <a:r>
              <a:rPr lang="bg-BG" b="1" dirty="0" smtClean="0"/>
              <a:t>уроците</a:t>
            </a:r>
            <a:endParaRPr lang="bg-BG" b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763" y="774704"/>
            <a:ext cx="402712" cy="4027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63" y="1999016"/>
            <a:ext cx="402712" cy="4027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763" y="3099750"/>
            <a:ext cx="402712" cy="4027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763" y="2551438"/>
            <a:ext cx="402712" cy="4027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763" y="3620766"/>
            <a:ext cx="402712" cy="4027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5763" y="4742546"/>
            <a:ext cx="402712" cy="4027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5763" y="4181656"/>
            <a:ext cx="402712" cy="40271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5763" y="1422808"/>
            <a:ext cx="402712" cy="402712"/>
          </a:xfrm>
          <a:prstGeom prst="rect">
            <a:avLst/>
          </a:prstGeom>
        </p:spPr>
      </p:pic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 txBox="1">
            <a:spLocks/>
          </p:cNvSpPr>
          <p:nvPr/>
        </p:nvSpPr>
        <p:spPr>
          <a:xfrm>
            <a:off x="5545762" y="5148105"/>
            <a:ext cx="5440685" cy="1554564"/>
          </a:xfrm>
          <a:prstGeom prst="rect">
            <a:avLst/>
          </a:prstGeom>
        </p:spPr>
        <p:txBody>
          <a:bodyPr vert="horz" lIns="0" tIns="45720" rIns="0" bIns="45720" numCol="1" rtlCol="0" anchor="ctr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solidFill>
                  <a:schemeClr val="accent1">
                    <a:lumMod val="75000"/>
                  </a:schemeClr>
                </a:solidFill>
              </a:rPr>
              <a:t>Целият процес се осъществява в екип от преподаватели. Всеки етап преминава през обсъждания, корекции и обратна </a:t>
            </a:r>
            <a:r>
              <a:rPr lang="bg-BG" b="1" dirty="0" smtClean="0">
                <a:solidFill>
                  <a:schemeClr val="accent1">
                    <a:lumMod val="75000"/>
                  </a:schemeClr>
                </a:solidFill>
              </a:rPr>
              <a:t>връзка.</a:t>
            </a: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13E22E-01DB-414D-9831-64C0E2A8B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bg-BG" dirty="0" smtClean="0"/>
              <a:t>Предимства</a:t>
            </a:r>
            <a:endParaRPr lang="en-US" dirty="0"/>
          </a:p>
        </p:txBody>
      </p:sp>
      <p:graphicFrame>
        <p:nvGraphicFramePr>
          <p:cNvPr id="18" name="Content Placeholder 7" descr="This is agenda slide with icons and texts">
            <a:extLst>
              <a:ext uri="{FF2B5EF4-FFF2-40B4-BE49-F238E27FC236}">
                <a16:creationId xmlns:a16="http://schemas.microsoft.com/office/drawing/2014/main" id="{8DB202CD-67CB-4F55-926C-FEA75DA63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218349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1605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DA682D-7AC5-48E0-993B-AB3F0273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bg-BG" dirty="0"/>
              <a:t>Резултати и очаквания</a:t>
            </a:r>
            <a:endParaRPr lang="en-IN" dirty="0"/>
          </a:p>
        </p:txBody>
      </p:sp>
      <p:graphicFrame>
        <p:nvGraphicFramePr>
          <p:cNvPr id="8" name="Content Placeholder 5" descr="This is agenda slide with icons and texts">
            <a:extLst>
              <a:ext uri="{FF2B5EF4-FFF2-40B4-BE49-F238E27FC236}">
                <a16:creationId xmlns:a16="http://schemas.microsoft.com/office/drawing/2014/main" id="{11C77D7C-7B20-41EB-B25D-E388EB341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77277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15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44079D-629C-4C44-8DB6-B4B5E7C5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858" y="4578350"/>
            <a:ext cx="10113645" cy="743682"/>
          </a:xfrm>
        </p:spPr>
        <p:txBody>
          <a:bodyPr/>
          <a:lstStyle/>
          <a:p>
            <a:r>
              <a:rPr lang="bg-BG" dirty="0"/>
              <a:t>Покана за сътрудничество</a:t>
            </a:r>
            <a:endParaRPr lang="en-US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1871" b="2187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59B328BF-1AD6-4365-B1FE-A5A396732871}"/>
              </a:ext>
            </a:extLst>
          </p:cNvPr>
          <p:cNvSpPr txBox="1">
            <a:spLocks/>
          </p:cNvSpPr>
          <p:nvPr/>
        </p:nvSpPr>
        <p:spPr>
          <a:xfrm>
            <a:off x="797682" y="5322032"/>
            <a:ext cx="10235821" cy="1314956"/>
          </a:xfrm>
          <a:prstGeom prst="rect">
            <a:avLst/>
          </a:prstGeom>
          <a:noFill/>
        </p:spPr>
        <p:txBody>
          <a:bodyPr vert="horz" lIns="0" tIns="45720" rIns="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Работа в екип – поделена отговорност и идеи</a:t>
            </a:r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Дискусия, споделяне на опит, постоянно усъвършенстване</a:t>
            </a:r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+mj-lt"/>
              </a:rPr>
              <a:t>Общи следващи стъпки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95" y="801177"/>
            <a:ext cx="11723427" cy="23582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 sz="6000" dirty="0">
                <a:solidFill>
                  <a:srgbClr val="FFFFFF"/>
                </a:solidFill>
                <a:latin typeface="+mj-lt"/>
              </a:rPr>
              <a:t>Благодаря за вниманието!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400" cap="all" spc="200" dirty="0">
                <a:solidFill>
                  <a:srgbClr val="FFFFFF"/>
                </a:solidFill>
              </a:rPr>
              <a:t>Очаквам вашите въпроси, идеи и предложения.</a:t>
            </a:r>
            <a:endParaRPr lang="en-US" sz="2400" cap="all" spc="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E879E6-8FFE-4154-8F2A-F7518B89B376}">
  <ds:schemaRefs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761</Words>
  <Application>Microsoft Office PowerPoint</Application>
  <PresentationFormat>Widescreen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Calibri Light</vt:lpstr>
      <vt:lpstr>MS Mincho</vt:lpstr>
      <vt:lpstr>Times New Roman</vt:lpstr>
      <vt:lpstr>Wingdings</vt:lpstr>
      <vt:lpstr>RetrospectVTI</vt:lpstr>
      <vt:lpstr>ИРИДА</vt:lpstr>
      <vt:lpstr>Цели на проекта</vt:lpstr>
      <vt:lpstr>Методологии</vt:lpstr>
      <vt:lpstr>Алгоритъм</vt:lpstr>
      <vt:lpstr>Предимства</vt:lpstr>
      <vt:lpstr>Резултати и очаквания</vt:lpstr>
      <vt:lpstr>Покана за сътрудничество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2025-07-02T19:04:35Z</dcterms:created>
  <dcterms:modified xsi:type="dcterms:W3CDTF">2025-07-06T15:59:22Z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