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12"/>
  </p:notesMasterIdLst>
  <p:handoutMasterIdLst>
    <p:handoutMasterId r:id="rId13"/>
  </p:handoutMasterIdLst>
  <p:sldIdLst>
    <p:sldId id="258" r:id="rId5"/>
    <p:sldId id="293" r:id="rId6"/>
    <p:sldId id="295" r:id="rId7"/>
    <p:sldId id="284" r:id="rId8"/>
    <p:sldId id="296" r:id="rId9"/>
    <p:sldId id="297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8527" autoAdjust="0"/>
  </p:normalViewPr>
  <p:slideViewPr>
    <p:cSldViewPr snapToGrid="0">
      <p:cViewPr varScale="1">
        <p:scale>
          <a:sx n="56" d="100"/>
          <a:sy n="56" d="100"/>
        </p:scale>
        <p:origin x="15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Формулирането на ясни, конкретни и измерими цели и задачи за всеки учебен предмет е ключов етап в процеса на адаптиране и детайлизиране на училищните учебни програми. Този процес гарантира, че обучението не само отговаря на държавните изисквания, но и е съобразено с конкретните нужди на учениците, спецификата на училището и актуалните професионални стандарти.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266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Теми и умения, без които ученикът не може да разбере базовите принципи на предмета. Ако не бъдат усвоени, целта на обучението няма да бъде постигната.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Много важни теми, които трябва да се покрият, но при необходимост могат да се съкратят или преместят. Не са критични за базовата грамотност, но силно препоръчителни.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Теми, които добавят стойност, разширяват или задълбочават знанията, но не са наложителни. Могат да се включат, ако има време и ресурс.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Won’t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Теми, които няма да се изучават в този цикъл или клас, или са извън обхвата на програмата. Могат да се оставят за бъдеще.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Критерии за категоризация: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Дали темата е абсолютно необходима за базовата грамотност?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 ли да се премести или съкрати без сериозни последици?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 ли допълнителна стойност, но не е критична?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Извън ли е обхвата на настоящата програма?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435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Въпреки че рамковата учебна програма и НИП задават общите рамки, всяко училище има възможност и отговорност да детайлизира и адаптира целите и задачите според:</a:t>
            </a:r>
          </a:p>
          <a:p>
            <a:r>
              <a:rPr lang="ru-RU" dirty="0" smtClean="0"/>
              <a:t>•	Профила и нивото на учениците (например: наличие на ученици със специални образователни потребности или с изявени интереси в дадена област);</a:t>
            </a:r>
          </a:p>
          <a:p>
            <a:r>
              <a:rPr lang="ru-RU" dirty="0" smtClean="0"/>
              <a:t>•	Материалната база и наличните ресурси;</a:t>
            </a:r>
          </a:p>
          <a:p>
            <a:r>
              <a:rPr lang="ru-RU" dirty="0" smtClean="0"/>
              <a:t>•	Квалификацията и опита на преподавателите;</a:t>
            </a:r>
          </a:p>
          <a:p>
            <a:r>
              <a:rPr lang="ru-RU" dirty="0" smtClean="0"/>
              <a:t>•	Специфичните традиции и приоритети на училището.</a:t>
            </a:r>
          </a:p>
          <a:p>
            <a:r>
              <a:rPr lang="ru-RU" dirty="0" smtClean="0"/>
              <a:t>Това адаптиране позволява учебният процес да бъде по-ефективен, мотивиращ и релевантен към реалните нужди на учениците и възможности на учителитеи училището.</a:t>
            </a:r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475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smtClean="0"/>
              <a:t>MoSCoW анализът позволява ефективно адаптиране на учебното съдържание към реалните условия – време, ресурс, профил на учениците.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smtClean="0"/>
              <a:t>Фокусира усилията върху най-важното, като същевременно дава възможност за разширяване при наличие на възможности.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smtClean="0"/>
              <a:t>Улеснява екипната работа между учителите и осигурява прозрачност при вземане на решения за учебното съдържание.</a:t>
            </a: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881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709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roup of people talking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3119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545" y="614149"/>
            <a:ext cx="4526280" cy="943015"/>
          </a:xfrm>
        </p:spPr>
        <p:txBody>
          <a:bodyPr/>
          <a:lstStyle/>
          <a:p>
            <a:r>
              <a:rPr lang="bg-BG" dirty="0" smtClean="0"/>
              <a:t>ИРИДА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3704" t="50" r="20718" b="-202"/>
          <a:stretch/>
        </p:blipFill>
        <p:spPr>
          <a:xfrm>
            <a:off x="-1194369" y="0"/>
            <a:ext cx="7506269" cy="685800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32171" y="1802824"/>
            <a:ext cx="4526280" cy="20594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5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/>
            <a:r>
              <a:rPr lang="ru-RU" sz="3600" dirty="0">
                <a:solidFill>
                  <a:schemeClr val="tx1"/>
                </a:solidFill>
              </a:rPr>
              <a:t>Стъпка </a:t>
            </a:r>
            <a:r>
              <a:rPr lang="ru-RU" sz="3600" dirty="0" smtClean="0">
                <a:solidFill>
                  <a:schemeClr val="tx1"/>
                </a:solidFill>
              </a:rPr>
              <a:t>5</a:t>
            </a:r>
          </a:p>
          <a:p>
            <a:pPr algn="r"/>
            <a:endParaRPr lang="ru-RU" sz="3600" dirty="0">
              <a:solidFill>
                <a:schemeClr val="tx1"/>
              </a:solidFill>
            </a:endParaRPr>
          </a:p>
          <a:p>
            <a:pPr algn="r"/>
            <a:r>
              <a:rPr lang="en-US" sz="3600" dirty="0" err="1">
                <a:solidFill>
                  <a:schemeClr val="tx1"/>
                </a:solidFill>
              </a:rPr>
              <a:t>MoSCoW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ru-RU" sz="3600" dirty="0">
                <a:solidFill>
                  <a:schemeClr val="tx1"/>
                </a:solidFill>
              </a:rPr>
              <a:t>анализ (теория, примери)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890" y="5718412"/>
            <a:ext cx="2182140" cy="8047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74447"/>
              </p:ext>
            </p:extLst>
          </p:nvPr>
        </p:nvGraphicFramePr>
        <p:xfrm>
          <a:off x="6402657" y="4958982"/>
          <a:ext cx="5789343" cy="511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9343">
                  <a:extLst>
                    <a:ext uri="{9D8B030D-6E8A-4147-A177-3AD203B41FA5}">
                      <a16:colId xmlns:a16="http://schemas.microsoft.com/office/drawing/2014/main" val="25677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cap="all" spc="100" dirty="0">
                          <a:effectLst/>
                        </a:rPr>
                        <a:t>Банско 2025</a:t>
                      </a:r>
                      <a:endParaRPr lang="bg-BG" sz="14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</a:rPr>
                        <a:t>инж</a:t>
                      </a:r>
                      <a:r>
                        <a:rPr lang="bg-BG" sz="1400" dirty="0">
                          <a:effectLst/>
                        </a:rPr>
                        <a:t>. Георги Бориков</a:t>
                      </a:r>
                      <a:endParaRPr lang="bg-BG" sz="1400" b="1" dirty="0">
                        <a:solidFill>
                          <a:srgbClr val="082A75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728547444"/>
                  </a:ext>
                </a:extLst>
              </a:tr>
            </a:tbl>
          </a:graphicData>
        </a:graphic>
      </p:graphicFrame>
      <p:cxnSp>
        <p:nvCxnSpPr>
          <p:cNvPr id="9" name="Право съединение 6" descr="Разделител на текст"/>
          <p:cNvCxnSpPr/>
          <p:nvPr/>
        </p:nvCxnSpPr>
        <p:spPr>
          <a:xfrm>
            <a:off x="6469080" y="5229503"/>
            <a:ext cx="1637690" cy="883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8" y="1963500"/>
            <a:ext cx="3697009" cy="2093975"/>
          </a:xfrm>
        </p:spPr>
        <p:txBody>
          <a:bodyPr/>
          <a:lstStyle/>
          <a:p>
            <a:r>
              <a:rPr lang="bg-BG" dirty="0" smtClean="0"/>
              <a:t>В предишното</a:t>
            </a:r>
            <a:br>
              <a:rPr lang="bg-BG" dirty="0" smtClean="0"/>
            </a:br>
            <a:r>
              <a:rPr lang="bg-BG" dirty="0" smtClean="0"/>
              <a:t>занятие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293" y="459457"/>
            <a:ext cx="5367532" cy="5102060"/>
          </a:xfrm>
        </p:spPr>
        <p:txBody>
          <a:bodyPr>
            <a:normAutofit/>
          </a:bodyPr>
          <a:lstStyle/>
          <a:p>
            <a:pPr algn="just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Запознахме се с нормативната рамка</a:t>
            </a:r>
            <a:r>
              <a:rPr lang="en-US" dirty="0" smtClean="0"/>
              <a:t> </a:t>
            </a:r>
            <a:endParaRPr lang="bg-BG" dirty="0" smtClean="0"/>
          </a:p>
          <a:p>
            <a:pPr algn="just"/>
            <a:endParaRPr lang="bg-BG" dirty="0" smtClean="0"/>
          </a:p>
          <a:p>
            <a:pPr algn="just"/>
            <a:r>
              <a:rPr lang="en-US" dirty="0" smtClean="0"/>
              <a:t>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Разгледахме процеса на адаптиране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към училищния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контекст</a:t>
            </a:r>
          </a:p>
          <a:p>
            <a:pPr algn="just"/>
            <a:endParaRPr lang="bg-BG" dirty="0" smtClean="0"/>
          </a:p>
          <a:p>
            <a:pPr algn="just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Разгледахме стъпките за формули-ране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собствени цели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</a:t>
            </a:r>
            <a:endParaRPr lang="bg-BG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Group 9" descr="Info">
            <a:extLst>
              <a:ext uri="{FF2B5EF4-FFF2-40B4-BE49-F238E27FC236}">
                <a16:creationId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97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8" y="1963500"/>
            <a:ext cx="3697009" cy="2093975"/>
          </a:xfrm>
        </p:spPr>
        <p:txBody>
          <a:bodyPr>
            <a:normAutofit/>
          </a:bodyPr>
          <a:lstStyle/>
          <a:p>
            <a:r>
              <a:rPr lang="bg-BG" dirty="0" smtClean="0"/>
              <a:t>Какво предстои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072" y="1725491"/>
            <a:ext cx="5058182" cy="4552479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Теория</a:t>
            </a:r>
          </a:p>
          <a:p>
            <a:pPr lvl="1" algn="just"/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Въведение</a:t>
            </a: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Какво е MoSCoW анализ </a:t>
            </a:r>
          </a:p>
          <a:p>
            <a:pPr lvl="1" algn="just"/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Категории </a:t>
            </a: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MoSCoW анализа – дефиниции и </a:t>
            </a: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критерии</a:t>
            </a:r>
          </a:p>
          <a:p>
            <a:pPr lvl="1" algn="just"/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Ползи и практическо </a:t>
            </a: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приложение</a:t>
            </a:r>
            <a:endParaRPr lang="bg-BG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ru-RU" b="1" dirty="0"/>
              <a:t>Пример за прилагане на MoSCoW анализ в учебна </a:t>
            </a:r>
            <a:r>
              <a:rPr lang="ru-RU" b="1" dirty="0" smtClean="0"/>
              <a:t>програма</a:t>
            </a:r>
            <a:endParaRPr lang="bg-BG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Самостоятелна 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</a:t>
            </a:r>
          </a:p>
          <a:p>
            <a:pPr algn="just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Колективно обсъждане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bg-BG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527" y="2564623"/>
            <a:ext cx="805424" cy="8054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54722" y="42885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Стъпка </a:t>
            </a:r>
            <a:r>
              <a:rPr lang="ru-RU" sz="2800" b="1" dirty="0" smtClean="0">
                <a:solidFill>
                  <a:schemeClr val="accent2"/>
                </a:solidFill>
              </a:rPr>
              <a:t>5 </a:t>
            </a:r>
          </a:p>
          <a:p>
            <a:r>
              <a:rPr lang="en-US" sz="2800" b="1" dirty="0" err="1">
                <a:solidFill>
                  <a:schemeClr val="accent2"/>
                </a:solidFill>
              </a:rPr>
              <a:t>MoSCoW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ru-RU" sz="2800" b="1" dirty="0">
                <a:solidFill>
                  <a:schemeClr val="accent2"/>
                </a:solidFill>
              </a:rPr>
              <a:t>анализ </a:t>
            </a:r>
          </a:p>
        </p:txBody>
      </p:sp>
    </p:spTree>
    <p:extLst>
      <p:ext uri="{BB962C8B-B14F-4D97-AF65-F5344CB8AC3E}">
        <p14:creationId xmlns:p14="http://schemas.microsoft.com/office/powerpoint/2010/main" val="399385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493448" cy="3384645"/>
          </a:xfrm>
        </p:spPr>
        <p:txBody>
          <a:bodyPr>
            <a:normAutofit/>
          </a:bodyPr>
          <a:lstStyle/>
          <a:p>
            <a:r>
              <a:rPr lang="bg-BG" dirty="0"/>
              <a:t>Какво представлява </a:t>
            </a:r>
            <a:r>
              <a:rPr lang="en-US" dirty="0" err="1"/>
              <a:t>MoSCoW</a:t>
            </a:r>
            <a:r>
              <a:rPr lang="en-US" dirty="0"/>
              <a:t> </a:t>
            </a:r>
            <a:r>
              <a:rPr lang="bg-BG" dirty="0"/>
              <a:t>анализът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760" y="2688608"/>
            <a:ext cx="5186597" cy="2579427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 (Задължително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 (Важно, но не критично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Could (Пожелателно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Won’t (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Отпадащо)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 txBox="1">
            <a:spLocks/>
          </p:cNvSpPr>
          <p:nvPr/>
        </p:nvSpPr>
        <p:spPr>
          <a:xfrm>
            <a:off x="5418717" y="423721"/>
            <a:ext cx="5440685" cy="1554564"/>
          </a:xfrm>
          <a:prstGeom prst="rect">
            <a:avLst/>
          </a:prstGeom>
        </p:spPr>
        <p:txBody>
          <a:bodyPr vert="horz" lIns="0" tIns="45720" rIns="0" bIns="45720" numCol="1" rtlCol="0" anchor="ctr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Този подход помага да се фокусираме върху 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най-важното и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да осигурим, че учениците ще усвоят </a:t>
            </a:r>
            <a:r>
              <a:rPr lang="ru-RU" b="1" u="sng" dirty="0">
                <a:solidFill>
                  <a:schemeClr val="accent1">
                    <a:lumMod val="75000"/>
                  </a:schemeClr>
                </a:solidFill>
              </a:rPr>
              <a:t>ключовите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 знания и умения.</a:t>
            </a:r>
            <a:endParaRPr lang="bg-BG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314700" cy="3384645"/>
          </a:xfrm>
        </p:spPr>
        <p:txBody>
          <a:bodyPr>
            <a:normAutofit/>
          </a:bodyPr>
          <a:lstStyle/>
          <a:p>
            <a:r>
              <a:rPr lang="bg-BG" dirty="0"/>
              <a:t>Категории в </a:t>
            </a:r>
            <a:r>
              <a:rPr lang="en-US" dirty="0" err="1"/>
              <a:t>MoSCoW</a:t>
            </a:r>
            <a:r>
              <a:rPr lang="en-US" dirty="0"/>
              <a:t> </a:t>
            </a:r>
            <a:r>
              <a:rPr lang="bg-BG" dirty="0"/>
              <a:t>анализа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805" y="1201004"/>
            <a:ext cx="5186597" cy="4135272"/>
          </a:xfrm>
        </p:spPr>
        <p:txBody>
          <a:bodyPr numCol="1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(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Задължително)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Дали темата е абсолютно необходима за базовата грамотност</a:t>
            </a:r>
            <a:r>
              <a:rPr lang="ru-RU" dirty="0" smtClean="0"/>
              <a:t>?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 (Важно, но не критично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Може ли да се премести или съкрати без сериозни последици</a:t>
            </a:r>
            <a:r>
              <a:rPr lang="ru-RU" dirty="0" smtClean="0"/>
              <a:t>?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Could (</a:t>
            </a:r>
            <a:r>
              <a:rPr lang="bg-BG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Пожелателно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Дава ли допълнителна стойност, но не е критична</a:t>
            </a:r>
            <a:r>
              <a:rPr lang="ru-RU" dirty="0" smtClean="0"/>
              <a:t>?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 smtClean="0"/>
          </a:p>
          <a:p>
            <a:pPr marL="342900" indent="-342900">
              <a:spcBef>
                <a:spcPts val="0"/>
              </a:spcBef>
              <a:spcAft>
                <a:spcPts val="0"/>
              </a:spcAft>
            </a:pP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Won’t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bg-BG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Отпадащо/за бъдеще</a:t>
            </a:r>
            <a:r>
              <a:rPr lang="bg-BG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Извън </a:t>
            </a:r>
            <a:r>
              <a:rPr lang="ru-RU" dirty="0" smtClean="0"/>
              <a:t>обхвата </a:t>
            </a:r>
            <a:r>
              <a:rPr lang="ru-RU" dirty="0"/>
              <a:t>на настоящата </a:t>
            </a:r>
            <a:r>
              <a:rPr lang="ru-RU" dirty="0" smtClean="0"/>
              <a:t>програма/условия/избор </a:t>
            </a:r>
            <a:r>
              <a:rPr lang="ru-RU" dirty="0"/>
              <a:t>ли </a:t>
            </a:r>
            <a:r>
              <a:rPr lang="ru-RU" dirty="0" smtClean="0"/>
              <a:t>е?</a:t>
            </a:r>
            <a:endParaRPr lang="ru-RU" dirty="0"/>
          </a:p>
          <a:p>
            <a:pPr marL="117348" lvl="1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sz="2400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95458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712191" cy="3384645"/>
          </a:xfrm>
        </p:spPr>
        <p:txBody>
          <a:bodyPr>
            <a:normAutofit/>
          </a:bodyPr>
          <a:lstStyle/>
          <a:p>
            <a:r>
              <a:rPr lang="ru-RU" dirty="0"/>
              <a:t>Ползи и практическо приложение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65" y="1733266"/>
            <a:ext cx="5440685" cy="3057099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ефективно адаптиране на учебното съдържание към реалните условия 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bg-B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Фокусира усилията върху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най-важното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Помага за екипна </a:t>
            </a:r>
            <a:r>
              <a:rPr lang="ru-RU" dirty="0"/>
              <a:t>работа </a:t>
            </a:r>
            <a:r>
              <a:rPr lang="ru-RU" dirty="0" smtClean="0"/>
              <a:t>на </a:t>
            </a:r>
            <a:r>
              <a:rPr lang="ru-RU" dirty="0"/>
              <a:t>учителите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</p:spTree>
    <p:extLst>
      <p:ext uri="{BB962C8B-B14F-4D97-AF65-F5344CB8AC3E}">
        <p14:creationId xmlns:p14="http://schemas.microsoft.com/office/powerpoint/2010/main" val="285164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69" y="1297352"/>
            <a:ext cx="11723427" cy="23582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bg-BG" sz="6000" dirty="0">
                <a:solidFill>
                  <a:srgbClr val="FFFFFF"/>
                </a:solidFill>
                <a:latin typeface="+mj-lt"/>
              </a:rPr>
              <a:t>Благодаря за вниманието!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400" cap="all" spc="200" dirty="0" smtClean="0">
                <a:solidFill>
                  <a:srgbClr val="FFFFFF"/>
                </a:solidFill>
              </a:rPr>
              <a:t>Време за вашите </a:t>
            </a:r>
            <a:r>
              <a:rPr lang="ru-RU" sz="2400" cap="all" spc="200" dirty="0">
                <a:solidFill>
                  <a:srgbClr val="FFFFFF"/>
                </a:solidFill>
              </a:rPr>
              <a:t>въпроси, идеи и предложения</a:t>
            </a:r>
            <a:r>
              <a:rPr lang="ru-RU" sz="2400" cap="all" spc="200" dirty="0" smtClean="0">
                <a:solidFill>
                  <a:srgbClr val="FFFFFF"/>
                </a:solidFill>
              </a:rPr>
              <a:t>...</a:t>
            </a:r>
          </a:p>
          <a:p>
            <a:pPr marL="0" indent="0" algn="r">
              <a:buNone/>
            </a:pPr>
            <a:r>
              <a:rPr lang="ru-RU" sz="2400" cap="all" spc="200" dirty="0" smtClean="0">
                <a:solidFill>
                  <a:srgbClr val="FFFFFF"/>
                </a:solidFill>
              </a:rPr>
              <a:t>И за почивка!</a:t>
            </a:r>
            <a:endParaRPr lang="en-US" sz="2400" cap="all" spc="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71af3243-3dd4-4a8d-8c0d-dd76da1f02a5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16c05727-aa75-4e4a-9b5f-8a80a11658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352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MS Mincho</vt:lpstr>
      <vt:lpstr>Times New Roman</vt:lpstr>
      <vt:lpstr>Wingdings</vt:lpstr>
      <vt:lpstr>RetrospectVTI</vt:lpstr>
      <vt:lpstr>ИРИДА</vt:lpstr>
      <vt:lpstr>В предишното занятие</vt:lpstr>
      <vt:lpstr>Какво предстои</vt:lpstr>
      <vt:lpstr>Какво представлява MoSCoW анализът</vt:lpstr>
      <vt:lpstr>Категории в MoSCoW анализа</vt:lpstr>
      <vt:lpstr>Ползи и практическо приложение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2025-07-02T19:04:35Z</dcterms:created>
  <dcterms:modified xsi:type="dcterms:W3CDTF">2025-07-06T21:51:23Z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